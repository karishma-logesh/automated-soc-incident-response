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g" ContentType="image/jpeg"/>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1"/>
  </p:sldMasterIdLst>
  <p:sldIdLst>
    <p:sldId id="301" r:id="rIdSlide1"/>
    <p:sldId id="302" r:id="rIdSlide2"/>
    <p:sldId id="303" r:id="rIdSlide3"/>
    <p:sldId id="304" r:id="rIdSlide4"/>
    <p:sldId id="305" r:id="rIdSlide5"/>
    <p:sldId id="306" r:id="rIdSlide6"/>
    <p:sldId id="307" r:id="rIdSlide7"/>
    <p:sldId id="308" r:id="rIdSlide8"/>
    <p:sldId id="309" r:id="rIdSlide9"/>
    <p:sldId id="310" r:id="rIdSlide10"/>
    <p:sldId id="311" r:id="rIdSlide11"/>
  </p:sldIdLst>
  <p:sldSz cx="12192000" cy="6858000" type="screen16x9"/>
  <p:notesSz cx="6858000" cy="12192000"/>
</p:presentation>
</file>

<file path=ppt/_rels/presentation.xml.rels><?xml version="1.0" encoding="UTF-8" standalone="yes"?><Relationships xmlns="http://schemas.openxmlformats.org/package/2006/relationships"><Relationship Id="rIdMaster1" Type="http://schemas.openxmlformats.org/officeDocument/2006/relationships/slideMaster" Target="slideMasters/slide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p:spTree>
      <p:nvGrpSpPr>
        <p:cNvPr id="1" name=""/>
        <p:cNvGrpSpPr/>
        <p:nvPr/>
      </p:nvGrpSpPr>
      <p:grpSpPr/>
    </p:spTree>
  </p:cSld>
</p:sldLayout>
</file>

<file path=ppt/slideMasters/_rels/slideMaster1.xml.rels><?xml version="1.0" encoding="UTF-8" standalone="yes"?><Relationships xmlns="http://schemas.openxmlformats.org/package/2006/relationships"><Relationship Id="rIdLayout1" Type="http://schemas.openxmlformats.org/officeDocument/2006/relationships/slideLayout" Target="../slideLayouts/slideLayout1.xml"/><Relationship Id="rIdTheme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Layout1"/>
  </p:sldLayoutIdLst>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Arch" Type="http://schemas.openxmlformats.org/officeDocument/2006/relationships/image" Target="../media/arch.jp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Flow" Type="http://schemas.openxmlformats.org/officeDocument/2006/relationships/image" Target="../media/flow.jp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Dash" Type="http://schemas.openxmlformats.org/officeDocument/2006/relationships/image" Target="../media/dashboard.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Resp" Type="http://schemas.openxmlformats.org/officeDocument/2006/relationships/image" Target="../media/response.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standalone="yes"?><p:sld xmlns:a="http://schemas.openxmlformats.org/drawingml/2006/main" xmlns:r="http://schemas.openxmlformats.org/officeDocument/2006/relationships" xmlns:p="http://schemas.openxmlformats.org/presentationml/2006/main"><p:cSld><p:spTree><p:nvGrpSpPr><p:cNvPr id="1" name=""/><p:cNvGrpSpPr/><p:nvPr/></p:nvGrpSpPr><p:grpSpPr/><p:sp><p:nvSpPr><p:cNvPr id="20" name="T20"/><p:cNvSpPr txBox="1"/><p:nvPr/></p:nvSpPr><p:spPr><a:xfrm><a:off x="1000000" y="1400000"/><a:ext cx="10000000" cy="300000"/></a:xfrm><a:prstGeom prst="rect"><a:avLst/></a:prstGeom><a:noFill/></p:spPr><p:txBody><a:bodyPr wrap="square" l="0" r="0" t="0" b="0"/><a:lstStyle/><a:p><a:pPr algn="l"></a:pPr><a:r><a:rPr lang="en-US" sz="1000" b="1" dirty="0"><a:solidFill><a:srgbClr val="4A5568"/></a:solidFill></a:rPr><a:t>PROJECT PROPOSAL &amp; FINAL EXAMINATION • 2025 – 2026</a:t></a:r></a:p></p:txBody></p:sp><p:sp><p:nvSpPr><p:cNvPr id="21" name="T21"/><p:cNvSpPr txBox="1"/><p:nvPr/></p:nvSpPr><p:spPr><a:xfrm><a:off x="1000000" y="1850000"/><a:ext cx="10200000" cy="1800000"/></a:xfrm><a:prstGeom prst="rect"><a:avLst/></a:prstGeom><a:noFill/></p:spPr><p:txBody><a:bodyPr wrap="square" l="0" r="0" t="0" b="0"/><a:lstStyle/><a:p><a:pPr algn="l"<a:spcAft><a:spcPts val="1200"/></a:spcAft>></a:pPr><a:r><a:rPr lang="en-US" sz="2500" b="1" dirty="0"><a:solidFill><a:srgbClr val="1E232A"/></a:solidFill></a:rPr><a:t>Automated SOC Incident Response Framework with Integrated Digital Forensics and Incident Response (DFIR) Capabilities</a:t></a:r></a:p><a:p><a:pPr algn="l"></a:pPr><a:r><a:rPr lang="en-US" sz="1250" b="0" dirty="0"><a:solidFill><a:srgbClr val="4A5568"/></a:solidFill></a:rPr><a:t>A Deterministic, High-Throughput Pipeline for Volatile Artifact Acquisition and NIST SP 800-86 Cryptographic Chain of Custody</a:t></a:r></a:p></p:txBody></p:sp><p:sp><p:nvSpPr><p:cNvPr id="22" name="R22"/><p:cNvSpPr/><p:nvPr/></p:nvSpPr><p:spPr><a:xfrm><a:off x="1000000" y="4100000"/><a:ext cx="10200000" cy="12700"/></a:xfrm><a:prstGeom prst="rect"><a:avLst/></a:prstGeom><a:solidFill><a:srgbClr val="CBD5E0"/></a:solidFill><a:ln><a:noFill/></a:ln></p:spPr></p:sp><p:sp><p:nvSpPr><p:cNvPr id="23" name="T23"/><p:cNvSpPr txBox="1"/><p:nvPr/></p:nvSpPr><p:spPr><a:xfrm><a:off x="1000000" y="4400000"/><a:ext cx="3200000" cy="1600000"/></a:xfrm><a:prstGeom prst="rect"><a:avLst/></a:prstGeom><a:noFill/></p:spPr><p:txBody><a:bodyPr wrap="square" l="0" r="0" t="0" b="0"/><a:lstStyle/><a:p><a:pPr algn="l"<a:spcAft><a:spcPts val="300"/></a:spcAft>></a:pPr><a:r><a:rPr lang="en-US" sz="900" b="1" dirty="0"><a:solidFill><a:srgbClr val="718096"/></a:solidFill></a:rPr><a:t>CANDIDATE</a:t></a:r></a:p><a:p><a:pPr algn="l"<a:spcAft><a:spcPts val="200"/></a:spcAft>></a:pPr><a:r><a:rPr lang="en-US" sz="1300" b="1" dirty="0"><a:solidFill><a:srgbClr val="1E232A"/></a:solidFill></a:rPr><a:t>Karishma L</a:t></a:r></a:p><a:p><a:pPr algn="l"></a:pPr><a:r><a:rPr lang="en-US" sz="1050" b="0" dirty="0"><a:solidFill><a:srgbClr val="4A5568"/></a:solidFill></a:rPr><a:t>B.E. CSE (Cyber Security)</a:t></a:r></a:p></p:txBody></p:sp><p:sp><p:nvSpPr><p:cNvPr id="24" name="T24"/><p:cNvSpPr txBox="1"/><p:nvPr/></p:nvSpPr><p:spPr><a:xfrm><a:off x="4600000" y="4400000"/><a:ext cx="3400000" cy="1600000"/></a:xfrm><a:prstGeom prst="rect"><a:avLst/></a:prstGeom><a:noFill/></p:spPr><p:txBody><a:bodyPr wrap="square" l="0" r="0" t="0" b="0"/><a:lstStyle/><a:p><a:pPr algn="l"<a:spcAft><a:spcPts val="300"/></a:spcAft>></a:pPr><a:r><a:rPr lang="en-US" sz="900" b="1" dirty="0"><a:solidFill><a:srgbClr val="718096"/></a:solidFill></a:rPr><a:t>INSTITUTION</a:t></a:r></a:p><a:p><a:pPr algn="l"<a:spcAft><a:spcPts val="200"/></a:spcAft>></a:pPr><a:r><a:rPr lang="en-US" sz="1300" b="1" dirty="0"><a:solidFill><a:srgbClr val="1E232A"/></a:solidFill></a:rPr><a:t>KCG College of Technology (Autonomous)</a:t></a:r></a:p><a:p><a:pPr algn="l"></a:pPr><a:r><a:rPr lang="en-US" sz="1050" b="0" dirty="0"><a:solidFill><a:srgbClr val="4A5568"/></a:solidFill></a:rPr><a:t>Dept. of Computer Science &amp; Engineering</a:t></a:r></a:p></p:txBody></p:sp><p:sp><p:nvSpPr><p:cNvPr id="25" name="T25"/><p:cNvSpPr txBox="1"/><p:nvPr/></p:nvSpPr><p:spPr><a:xfrm><a:off x="8200000" y="4400000"/><a:ext cx="3000000" cy="1600000"/></a:xfrm><a:prstGeom prst="rect"><a:avLst/></a:prstGeom><a:noFill/></p:spPr><p:txBody><a:bodyPr wrap="square" l="0" r="0" t="0" b="0"/><a:lstStyle/><a:p><a:pPr algn="l"<a:spcAft><a:spcPts val="300"/></a:spcAft>></a:pPr><a:r><a:rPr lang="en-US" sz="900" b="1" dirty="0"><a:solidFill><a:srgbClr val="718096"/></a:solidFill></a:rPr><a:t>AFFILIATION</a:t></a:r></a:p><a:p><a:pPr algn="l"<a:spcAft><a:spcPts val="200"/></a:spcAft>></a:pPr><a:r><a:rPr lang="en-US" sz="1300" b="1" dirty="0"><a:solidFill><a:srgbClr val="1E232A"/></a:solidFill></a:rPr><a:t>Anna University, Chennai</a:t></a:r></a:p><a:p><a:pPr algn="l"></a:pPr><a:r><a:rPr lang="en-US" sz="1050" b="0" dirty="0"><a:solidFill><a:srgbClr val="4A5568"/></a:solidFill></a:rPr><a:t>Academic Year 2025 – 2026</a:t></a:r></a:p></p:txBody></p:sp></p:spTree></p:cSld><p:clrMapOvr><a:masterClrMapping/></p:clrMapOvr></p:sld>
</file>

<file path=ppt/slides/slide2.xml><?xml version="1.0" encoding="UTF-8" standalone="yes"?><p:sld xmlns:a="http://schemas.openxmlformats.org/drawingml/2006/main" xmlns:r="http://schemas.openxmlformats.org/officeDocument/2006/relationships" xmlns:p="http://schemas.openxmlformats.org/presentationml/2006/main"><p:cSld><p:spTree><p:nvGrpSpPr><p:cNvPr id="1" name=""/><p:cNvGrpSpPr/><p:nvPr/></p:nvGrpSpPr><p:grpSpPr/><p:sp><p:nvSpPr><p:cNvPr id="10" name="T10"/><p:cNvSpPr txBox="1"/><p:nvPr/></p:nvSpPr><p:spPr><a:xfrm><a:off x="800000" y="450000"/><a:ext cx="7000000" cy="250000"/></a:xfrm><a:prstGeom prst="rect"><a:avLst/></a:prstGeom><a:noFill/></p:spPr><p:txBody><a:bodyPr wrap="square" l="0" r="0" t="0" b="0"/><a:lstStyle/><a:p><a:pPr algn="l"></a:pPr><a:r><a:rPr lang="en-US" sz="950" b="1" dirty="0"><a:solidFill><a:srgbClr val="4A5568"/></a:solidFill></a:rPr><a:t>CONTEXT &amp; MOTIVATION</a:t></a:r></a:p></p:txBody></p:sp><p:sp><p:nvSpPr><p:cNvPr id="11" name="T11"/><p:cNvSpPr txBox="1"/><p:nvPr/></p:nvSpPr><p:spPr><a:xfrm><a:off x="10200000" y="450000"/><a:ext cx="1200000" cy="250000"/></a:xfrm><a:prstGeom prst="rect"><a:avLst/></a:prstGeom><a:noFill/></p:spPr><p:txBody><a:bodyPr wrap="square" l="0" r="0" t="0" b="0"/><a:lstStyle/><a:p><a:pPr algn="l"></a:pPr><a:r><a:rPr lang="en-US" sz="950" b="1" dirty="0"><a:solidFill><a:srgbClr val="718096"/></a:solidFill></a:rPr><a:t>02 / 11</a:t></a:r></a:p></p:txBody></p:sp><p:sp><p:nvSpPr><p:cNvPr id="12" name="T12"/><p:cNvSpPr txBox="1"/><p:nvPr/></p:nvSpPr><p:spPr><a:xfrm><a:off x="800000" y="720000"/><a:ext cx="10600000" cy="450000"/></a:xfrm><a:prstGeom prst="rect"><a:avLst/></a:prstGeom><a:noFill/></p:spPr><p:txBody><a:bodyPr wrap="square" l="0" r="0" t="0" b="0"/><a:lstStyle/><a:p><a:pPr algn="l"></a:pPr><a:r><a:rPr lang="en-US" sz="1900" b="1" dirty="0"><a:solidFill><a:srgbClr val="1E232A"/></a:solidFill></a:rPr><a:t>The Critical Need for Automated SOC &amp; Endpoint DFIR</a:t></a:r></a:p></p:txBody></p:sp><p:sp><p:nvSpPr><p:cNvPr id="13" name="R13"/><p:cNvSpPr/><p:nvPr/></p:nvSpPr><p:spPr><a:xfrm><a:off x="800000" y="1220000"/><a:ext cx="10600000" cy="12700"/></a:xfrm><a:prstGeom prst="rect"><a:avLst/></a:prstGeom><a:solidFill><a:srgbClr val="CBD5E0"/></a:solidFill><a:ln><a:noFill/></a:ln></p:spPr></p:sp><p:sp><p:nvSpPr><p:cNvPr id="30" name="R30"/><p:cNvSpPr/><p:nvPr/></p:nvSpPr><p:spPr><a:xfrm><a:off x="800000" y="1450000"/><a:ext cx="5100000" cy="4900000"/></a:xfrm><a:prstGeom prst="rect"><a:avLst/></a:prstGeom><a:solidFill><a:srgbClr val="F7FAFC"/></a:solidFill><a:ln w="9525"><a:solidFill><a:srgbClr val="E2E8F0"/></a:solidFill></a:ln></p:spPr></p:sp><p:sp><p:nvSpPr><p:cNvPr id="31" name="T31"/><p:cNvSpPr txBox="1"/><p:nvPr/></p:nvSpPr><p:spPr><a:xfrm><a:off x="1050000" y="1700000"/><a:ext cx="4600000" cy="4400000"/></a:xfrm><a:prstGeom prst="rect"><a:avLst/></a:prstGeom><a:noFill/></p:spPr><p:txBody><a:bodyPr wrap="square" l="0" r="0" t="0" b="0"/><a:lstStyle/><a:p><a:pPr algn="l"<a:spcAft><a:spcPts val="1000"/></a:spcAft>></a:pPr><a:r><a:rPr lang="en-US" sz="1300" b="1" dirty="0"><a:solidFill><a:srgbClr val="1E232A"/></a:solidFill></a:rPr><a:t>The Enterprise Alert Paradigm</a:t></a:r></a:p><a:p><a:pPr algn="l"<a:spcAft><a:spcPts val="1200"/></a:spcAft> marL="260000" indent="-260000"><a:buFont typeface="Arial"/><a:buChar char="—"/></a:pPr><a:r><a:rPr lang="en-US" sz="1050" b="0" dirty="0"><a:solidFill><a:srgbClr val="2D3748"/></a:solidFill></a:rPr><a:t>Surge in Credential Compromises: Remote authentication brute-force attacks (MITRE ATT&amp;CK T1110) represent over 44% of modern unauthorized breach vectors.</a:t></a:r></a:p><a:p><a:pPr algn="l"<a:spcAft><a:spcPts val="1200"/></a:spcAft> marL="260000" indent="-260000"><a:buFont typeface="Arial"/><a:buChar char="—"/></a:pPr><a:r><a:rPr lang="en-US" sz="1050" b="0" dirty="0"><a:solidFill><a:srgbClr val="2D3748"/></a:solidFill></a:rPr><a:t>Severe Alert Fatigue: Modern enterprise SOCs ingest 5,000+ alerts daily; tier-1 triage delay allows attackers to establish persistent beachheads.</a:t></a:r></a:p><a:p><a:pPr algn="l" marL="260000" indent="-260000"><a:buFont typeface="Arial"/><a:buChar char="—"/></a:pPr><a:r><a:rPr lang="en-US" sz="1050" b="0" dirty="0"><a:solidFill><a:srgbClr val="2D3748"/></a:solidFill></a:rPr><a:t>Manual Triage Bottlenecks: Traditional log correlation and incident corroboration consumes an average of 20 to 45 minutes per ticket.</a:t></a:r></a:p></p:txBody></p:sp><p:sp><p:nvSpPr><p:cNvPr id="32" name="R32"/><p:cNvSpPr/><p:nvPr/></p:nvSpPr><p:spPr><a:xfrm><a:off x="6300000" y="1450000"/><a:ext cx="5100000" cy="4900000"/></a:xfrm><a:prstGeom prst="rect"><a:avLst/></a:prstGeom><a:solidFill><a:srgbClr val="F7FAFC"/></a:solidFill><a:ln w="9525"><a:solidFill><a:srgbClr val="E2E8F0"/></a:solidFill></a:ln></p:spPr></p:sp><p:sp><p:nvSpPr><p:cNvPr id="33" name="T33"/><p:cNvSpPr txBox="1"/><p:nvPr/></p:nvSpPr><p:spPr><a:xfrm><a:off x="6550000" y="1700000"/><a:ext cx="4600000" cy="4400000"/></a:xfrm><a:prstGeom prst="rect"><a:avLst/></a:prstGeom><a:noFill/></p:spPr><p:txBody><a:bodyPr wrap="square" l="0" r="0" t="0" b="0"/><a:lstStyle/><a:p><a:pPr algn="l"<a:spcAft><a:spcPts val="1000"/></a:spcAft>></a:pPr><a:r><a:rPr lang="en-US" sz="1300" b="1" dirty="0"><a:solidFill><a:srgbClr val="1E232A"/></a:solidFill></a:rPr><a:t>The Volatile Forensics Dilemma</a:t></a:r></a:p><a:p><a:pPr algn="l"<a:spcAft><a:spcPts val="1200"/></a:spcAft> marL="260000" indent="-260000"><a:buFont typeface="Arial"/><a:buChar char="—"/></a:pPr><a:r><a:rPr lang="en-US" sz="1050" b="0" dirty="0"><a:solidFill><a:srgbClr val="2D3748"/></a:solidFill></a:rPr><a:t>Evaporating In-Memory Artifacts: Malicious processes, volatile TCP sockets, and active user tokens are lost upon endpoint reboot or anti-forensic wiping.</a:t></a:r></a:p><a:p><a:pPr algn="l"<a:spcAft><a:spcPts val="1200"/></a:spcAft> marL="260000" indent="-260000"><a:buFont typeface="Arial"/><a:buChar char="—"/></a:pPr><a:r><a:rPr lang="en-US" sz="1050" b="0" dirty="0"><a:solidFill><a:srgbClr val="2D3748"/></a:solidFill></a:rPr><a:t>Triage Delay Equals Evidence Loss: When forensics is invoked hours after the alert, volatile evidence is overwritten by operating system scheduling.</a:t></a:r></a:p><a:p><a:pPr algn="l" marL="260000" indent="-260000"><a:buFont typeface="Arial"/><a:buChar char="—"/></a:pPr><a:r><a:rPr lang="en-US" sz="1050" b="0" dirty="0"><a:solidFill><a:srgbClr val="2D3748"/></a:solidFill></a:rPr><a:t>Chain of Custody Vulnerability: Ad-hoc CLI artifact collection without cryptographic binding fails technical admissibility under ISO/IEC 27037.</a:t></a:r></a:p></p:txBody></p:sp></p:spTree></p:cSld><p:clrMapOvr><a:masterClrMapping/></p:clrMapOvr></p:sld>
</file>

<file path=ppt/slides/slide3.xml><?xml version="1.0" encoding="UTF-8" standalone="yes"?><p:sld xmlns:a="http://schemas.openxmlformats.org/drawingml/2006/main" xmlns:r="http://schemas.openxmlformats.org/officeDocument/2006/relationships" xmlns:p="http://schemas.openxmlformats.org/presentationml/2006/main"><p:cSld><p:spTree><p:nvGrpSpPr><p:cNvPr id="1" name=""/><p:cNvGrpSpPr/><p:nvPr/></p:nvGrpSpPr><p:grpSpPr/><p:sp><p:nvSpPr><p:cNvPr id="10" name="T10"/><p:cNvSpPr txBox="1"/><p:nvPr/></p:nvSpPr><p:spPr><a:xfrm><a:off x="800000" y="450000"/><a:ext cx="7000000" cy="250000"/></a:xfrm><a:prstGeom prst="rect"><a:avLst/></a:prstGeom><a:noFill/></p:spPr><p:txBody><a:bodyPr wrap="square" l="0" r="0" t="0" b="0"/><a:lstStyle/><a:p><a:pPr algn="l"></a:pPr><a:r><a:rPr lang="en-US" sz="950" b="1" dirty="0"><a:solidFill><a:srgbClr val="4A5568"/></a:solidFill></a:rPr><a:t>PROBLEM STATEMENT &amp; OBJECTIVES</a:t></a:r></a:p></p:txBody></p:sp><p:sp><p:nvSpPr><p:cNvPr id="11" name="T11"/><p:cNvSpPr txBox="1"/><p:nvPr/></p:nvSpPr><p:spPr><a:xfrm><a:off x="10200000" y="450000"/><a:ext cx="1200000" cy="250000"/></a:xfrm><a:prstGeom prst="rect"><a:avLst/></a:prstGeom><a:noFill/></p:spPr><p:txBody><a:bodyPr wrap="square" l="0" r="0" t="0" b="0"/><a:lstStyle/><a:p><a:pPr algn="l"></a:pPr><a:r><a:rPr lang="en-US" sz="950" b="1" dirty="0"><a:solidFill><a:srgbClr val="718096"/></a:solidFill></a:rPr><a:t>03 / 11</a:t></a:r></a:p></p:txBody></p:sp><p:sp><p:nvSpPr><p:cNvPr id="12" name="T12"/><p:cNvSpPr txBox="1"/><p:nvPr/></p:nvSpPr><p:spPr><a:xfrm><a:off x="800000" y="720000"/><a:ext cx="10600000" cy="450000"/></a:xfrm><a:prstGeom prst="rect"><a:avLst/></a:prstGeom><a:noFill/></p:spPr><p:txBody><a:bodyPr wrap="square" l="0" r="0" t="0" b="0"/><a:lstStyle/><a:p><a:pPr algn="l"></a:pPr><a:r><a:rPr lang="en-US" sz="1900" b="1" dirty="0"><a:solidFill><a:srgbClr val="1E232A"/></a:solidFill></a:rPr><a:t>Targeted Engineering Goals &amp; Performance Metrics</a:t></a:r></a:p></p:txBody></p:sp><p:sp><p:nvSpPr><p:cNvPr id="13" name="R13"/><p:cNvSpPr/><p:nvPr/></p:nvSpPr><p:spPr><a:xfrm><a:off x="800000" y="1220000"/><a:ext cx="10600000" cy="12700"/></a:xfrm><a:prstGeom prst="rect"><a:avLst/></a:prstGeom><a:solidFill><a:srgbClr val="CBD5E0"/></a:solidFill><a:ln><a:noFill/></a:ln></p:spPr></p:sp><p:sp><p:nvSpPr><p:cNvPr id="40" name="R40"/><p:cNvSpPr/><p:nvPr/></p:nvSpPr><p:spPr><a:xfrm><a:off x="800000" y="1450000"/><a:ext cx="10600000" cy="1150000"/></a:xfrm><a:prstGeom prst="rect"><a:avLst/></a:prstGeom><a:solidFill><a:srgbClr val="F7FAFC"/></a:solidFill><a:ln w="9525"><a:solidFill><a:srgbClr val="E2E8F0"/></a:solidFill></a:ln></p:spPr></p:sp><p:sp><p:nvSpPr><p:cNvPr id="41" name="T41"/><p:cNvSpPr txBox="1"/><p:nvPr/></p:nvSpPr><p:spPr><a:xfrm><a:off x="1050000" y="1580000"/><a:ext cx="10100000" cy="900000"/></a:xfrm><a:prstGeom prst="rect"><a:avLst/></a:prstGeom><a:noFill/></p:spPr><p:txBody><a:bodyPr wrap="square" l="0" r="0" t="0" b="0"/><a:lstStyle/><a:p><a:pPr algn="l"<a:spcAft><a:spcPts val="400"/></a:spcAft>></a:pPr><a:r><a:rPr lang="en-US" sz="950" b="1" dirty="0"><a:solidFill><a:srgbClr val="4A5568"/></a:solidFill></a:rPr><a:t>FORMAL PROBLEM STATEMENT</a:t></a:r></a:p><a:p><a:pPr algn="l"></a:pPr><a:r><a:rPr lang="en-US" sz="1150" b="0" dirty="0"><a:solidFill><a:srgbClr val="1E232A"/></a:solidFill></a:rPr><a:t>"Existing SIEM architectures detect threshold anomalies but exhibit an operational disconnect: triage remains manual, volatile host evidence is left uncaptured, and response execution lacks verifiable cryptographic chain of custody."</a:t></a:r></a:p></p:txBody></p:sp><p:sp><p:nvSpPr><p:cNvPr id="42" name="R42"/><p:cNvSpPr/><p:nvPr/></p:nvSpPr><p:spPr><a:xfrm><a:off x="800000" y="2750000"/><a:ext cx="10600000" cy="3600000"/></a:xfrm><a:prstGeom prst="rect"><a:avLst/></a:prstGeom><a:solidFill><a:srgbClr val="FFFFFF"/></a:solidFill><a:ln w="9525"><a:solidFill><a:srgbClr val="E2E8F0"/></a:solidFill></a:ln></p:spPr></p:sp><p:sp><p:nvSpPr><p:cNvPr id="43" name="T43"/><p:cNvSpPr txBox="1"/><p:nvPr/></p:nvSpPr><p:spPr><a:xfrm><a:off x="1050000" y="2950000"/><a:ext cx="10100000" cy="3200000"/></a:xfrm><a:prstGeom prst="rect"><a:avLst/></a:prstGeom><a:noFill/></p:spPr><p:txBody><a:bodyPr wrap="square" l="0" r="0" t="0" b="0"/><a:lstStyle/><a:p><a:pPr algn="l"<a:spcAft><a:spcPts val="1000"/></a:spcAft>></a:pPr><a:r><a:rPr lang="en-US" sz="1200" b="1" dirty="0"><a:solidFill><a:srgbClr val="1E232A"/></a:solidFill></a:rPr><a:t>CONCRETE, MEASURABLE OBJECTIVES</a:t></a:r></a:p><a:p><a:pPr algn="l"<a:spcAft><a:spcPts val="800"/></a:spcAft> marL="260000" indent="-260000"><a:buFont typeface="Arial"/><a:buChar char="—"/></a:pPr><a:r><a:rPr lang="en-US" sz="1050" b="0" dirty="0"><a:solidFill><a:srgbClr val="2D3748"/></a:solidFill></a:rPr><a:t>Sub-Second Triage Latency: Reduce alert ingestion, normalization, and database commitment latency from ~25 minutes manual to &lt; 1.5 seconds programmatically.</a:t></a:r></a:p><a:p><a:pPr algn="l"<a:spcAft><a:spcPts val="800"/></a:spcAft> marL="260000" indent="-260000"><a:buFont typeface="Arial"/><a:buChar char="—"/></a:pPr><a:r><a:rPr lang="en-US" sz="1050" b="0" dirty="0"><a:solidFill><a:srgbClr val="2D3748"/></a:solidFill></a:rPr><a:t>Automated Volatile Artifact Acquisition: Concurrently execute controlled OS commands to capture process trees (tasklist), sockets (netstat), sessions, and event channels (wevtutil).</a:t></a:r></a:p><a:p><a:pPr algn="l"<a:spcAft><a:spcPts val="800"/></a:spcAft> marL="260000" indent="-260000"><a:buFont typeface="Arial"/><a:buChar char="—"/></a:pPr><a:r><a:rPr lang="en-US" sz="1050" b="0" dirty="0"><a:solidFill><a:srgbClr val="2D3748"/></a:solidFill></a:rPr><a:t>NIST SP 800-86 Cryptographic Integrity: Automatically compute cryptographic SHA-256 hashes at the moment of acquisition for tamper-evident verification.</a:t></a:r></a:p><a:p><a:pPr algn="l"<a:spcAft><a:spcPts val="800"/></a:spcAft> marL="260000" indent="-260000"><a:buFont typeface="Arial"/><a:buChar char="—"/></a:pPr><a:r><a:rPr lang="en-US" sz="1050" b="0" dirty="0"><a:solidFill><a:srgbClr val="2D3748"/></a:solidFill></a:rPr><a:t>Guided Dual-Tier Containment: Enforce safe analyst notifications alongside confirmation-gated network isolation playbooks logged in an immutable audit trail.</a:t></a:r></a:p><a:p><a:pPr algn="l" marL="260000" indent="-260000"><a:buFont typeface="Arial"/><a:buChar char="—"/></a:pPr><a:r><a:rPr lang="en-US" sz="1050" b="0" dirty="0"><a:solidFill><a:srgbClr val="2D3748"/></a:solidFill></a:rPr><a:t>Instantaneous Audit-Ready Reporting: Compile structured event timelines, MITRE ATT&amp;CK profiles, and forensic digests into PDF format in &lt; 2 seconds.</a:t></a:r></a:p></p:txBody></p:sp></p:spTree></p:cSld><p:clrMapOvr><a:masterClrMapping/></p:clrMapOvr></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T10"/>
          <p:cNvSpPr txBox="1"/>
          <p:nvPr/>
        </p:nvSpPr>
        <p:spPr>
          <a:xfrm>
            <a:off x="800000" y="450000"/>
            <a:ext cx="7000000" cy="250000"/>
          </a:xfrm>
          <a:prstGeom prst="rect">
            <a:avLst/>
          </a:prstGeom>
          <a:noFill/>
        </p:spPr>
        <p:txBody>
          <a:bodyPr wrap="square" l="0" r="0" t="0" b="0"/>
          <a:lstStyle/>
          <a:p>
            <a:pPr algn="l"/>
            <a:r>
              <a:rPr lang="en-US" sz="950" b="1" dirty="0">
                <a:solidFill>
                  <a:srgbClr val="4A5568"/>
                </a:solidFill>
              </a:rPr>
              <a:t>BACKGROUND &amp; LITERATURE</a:t>
            </a:r>
          </a:p>
        </p:txBody>
      </p:sp>
      <p:sp>
        <p:nvSpPr>
          <p:cNvPr id="11" name="T11"/>
          <p:cNvSpPr txBox="1"/>
          <p:nvPr/>
        </p:nvSpPr>
        <p:spPr>
          <a:xfrm>
            <a:off x="10200000" y="450000"/>
            <a:ext cx="1200000" cy="250000"/>
          </a:xfrm>
          <a:prstGeom prst="rect">
            <a:avLst/>
          </a:prstGeom>
          <a:noFill/>
        </p:spPr>
        <p:txBody>
          <a:bodyPr wrap="square" l="0" r="0" t="0" b="0"/>
          <a:lstStyle/>
          <a:p>
            <a:pPr algn="l"/>
            <a:r>
              <a:rPr lang="en-US" sz="950" b="1" dirty="0">
                <a:solidFill>
                  <a:srgbClr val="718096"/>
                </a:solidFill>
              </a:rPr>
              <a:t>04 / 11</a:t>
            </a:r>
          </a:p>
        </p:txBody>
      </p:sp>
      <p:sp>
        <p:nvSpPr>
          <p:cNvPr id="12" name="T12"/>
          <p:cNvSpPr txBox="1"/>
          <p:nvPr/>
        </p:nvSpPr>
        <p:spPr>
          <a:xfrm>
            <a:off x="800000" y="720000"/>
            <a:ext cx="10600000" cy="450000"/>
          </a:xfrm>
          <a:prstGeom prst="rect">
            <a:avLst/>
          </a:prstGeom>
          <a:noFill/>
        </p:spPr>
        <p:txBody>
          <a:bodyPr wrap="square" l="0" r="0" t="0" b="0"/>
          <a:lstStyle/>
          <a:p>
            <a:pPr algn="l"/>
            <a:r>
              <a:rPr lang="en-US" sz="1900" b="1" dirty="0">
                <a:solidFill>
                  <a:srgbClr val="1E232A"/>
                </a:solidFill>
              </a:rPr>
              <a:t>Related Work &amp; State-of-the-Art Baseline Comparison</a:t>
            </a:r>
          </a:p>
        </p:txBody>
      </p:sp>
      <p:sp>
        <p:nvSpPr>
          <p:cNvPr id="13" name="R13"/>
          <p:cNvSpPr/>
          <p:nvPr/>
        </p:nvSpPr>
        <p:spPr>
          <a:xfrm>
            <a:off x="800000" y="1220000"/>
            <a:ext cx="10600000" cy="12700"/>
          </a:xfrm>
          <a:prstGeom prst="rect">
            <a:avLst/>
          </a:prstGeom>
          <a:solidFill>
            <a:srgbClr val="CBD5E0"/>
          </a:solidFill>
          <a:ln>
            <a:noFill/>
          </a:ln>
        </p:spPr>
      </p:sp>
      <p:graphicFrame>
        <p:nvGraphicFramePr>
          <p:cNvPr id="50" name="Tbl50"/>
          <p:cNvGraphicFramePr>
            <a:graphicFrameLocks noGrp="1"/>
          </p:cNvGraphicFramePr>
          <p:nvPr/>
        </p:nvGraphicFramePr>
        <p:xfrm>
          <a:off x="800000" y="1550000"/>
          <a:ext cx="10600000" cy="4800000"/>
        </p:xfrm>
        <a:graphic>
          <a:graphicData uri="http://schemas.openxmlformats.org/drawingml/2006/table">
            <a:tbl>
              <a:tblPr>
                <a:tableStyleId>{59604425-5880-4E81-82A0-42699D6A4283}</a:tableStyleId>
              </a:tblPr>
              <a:tblGrid>
                <a:gridCol w="2300000"/>
                <a:gridCol w="2750000"/>
                <a:gridCol w="2750000"/>
                <a:gridCol w="2800000"/>
              </a:tblGrid>
              <a:tr h="360000">
                <a:tc>
                  <a:txBody>
                    <a:bodyPr/>
                    <a:lstStyle/>
                    <a:p>
                      <a:pPr algn="l"/>
                      <a:r>
                        <a:rPr lang="en-US" sz="1000" b="1">
                          <a:solidFill>
                            <a:srgbClr val="1E232A"/>
                          </a:solidFill>
                        </a:rPr>
                        <a:t>Architecture / Paradigm</a:t>
                      </a:r>
                    </a:p>
                  </a:txBody>
                  <a:tcPr>
                    <a:solidFill>
                      <a:srgbClr val="F7FAFC"/>
                    </a:solidFill>
                    <a:lnB w="12700">
                      <a:solidFill>
                        <a:srgbClr val="1E232A"/>
                      </a:solidFill>
                    </a:lnB>
                  </a:tcPr>
                </a:tc>
                <a:tc>
                  <a:txBody>
                    <a:bodyPr/>
                    <a:lstStyle/>
                    <a:p>
                      <a:pPr algn="l"/>
                      <a:r>
                        <a:rPr lang="en-US" sz="1000" b="1">
                          <a:solidFill>
                            <a:srgbClr val="1E232A"/>
                          </a:solidFill>
                        </a:rPr>
                        <a:t>Core Technical Mechanism</a:t>
                      </a:r>
                    </a:p>
                  </a:txBody>
                  <a:tcPr>
                    <a:solidFill>
                      <a:srgbClr val="F7FAFC"/>
                    </a:solidFill>
                    <a:lnB w="12700">
                      <a:solidFill>
                        <a:srgbClr val="1E232A"/>
                      </a:solidFill>
                    </a:lnB>
                  </a:tcPr>
                </a:tc>
                <a:tc>
                  <a:txBody>
                    <a:bodyPr/>
                    <a:lstStyle/>
                    <a:p>
                      <a:pPr algn="l"/>
                      <a:r>
                        <a:rPr lang="en-US" sz="1000" b="1">
                          <a:solidFill>
                            <a:srgbClr val="1E232A"/>
                          </a:solidFill>
                        </a:rPr>
                        <a:t>Inherent Engineering Bottleneck</a:t>
                      </a:r>
                    </a:p>
                  </a:txBody>
                  <a:tcPr>
                    <a:solidFill>
                      <a:srgbClr val="F7FAFC"/>
                    </a:solidFill>
                    <a:lnB w="12700">
                      <a:solidFill>
                        <a:srgbClr val="1E232A"/>
                      </a:solidFill>
                    </a:lnB>
                  </a:tcPr>
                </a:tc>
                <a:tc>
                  <a:txBody>
                    <a:bodyPr/>
                    <a:lstStyle/>
                    <a:p>
                      <a:pPr algn="l"/>
                      <a:r>
                        <a:rPr lang="en-US" sz="1000" b="1">
                          <a:solidFill>
                            <a:srgbClr val="1E232A"/>
                          </a:solidFill>
                        </a:rPr>
                        <a:t>Our Proposed Framework</a:t>
                      </a:r>
                    </a:p>
                  </a:txBody>
                  <a:tcPr>
                    <a:solidFill>
                      <a:srgbClr val="F7FAFC"/>
                    </a:solidFill>
                    <a:lnB w="12700">
                      <a:solidFill>
                        <a:srgbClr val="1E232A"/>
                      </a:solidFill>
                    </a:lnB>
                  </a:tcPr>
                </a:tc>
              </a:tr>
              <a:tr h="400000">
                <a:tc>
                  <a:txBody>
                    <a:bodyPr/>
                    <a:lstStyle/>
                    <a:p>
                      <a:pPr algn="l"/>
                      <a:r>
                        <a:rPr lang="en-US" sz="950" b="1">
                          <a:solidFill>
                            <a:srgbClr val="2D3748"/>
                          </a:solidFill>
                        </a:rPr>
                        <a:t>Traditional SIEM
(Chen et al., 2024)</a:t>
                      </a:r>
                    </a:p>
                  </a:txBody>
                  <a:tcPr>
                    <a:solidFill>
                      <a:srgbClr val="FFFFFF"/>
                    </a:solidFill>
                    <a:lnB w="6350">
                      <a:solidFill>
                        <a:srgbClr val="CBD5E0"/>
                      </a:solidFill>
                    </a:lnB>
                  </a:tcPr>
                </a:tc>
                <a:tc>
                  <a:txBody>
                    <a:bodyPr/>
                    <a:lstStyle/>
                    <a:p>
                      <a:pPr algn="l"/>
                      <a:r>
                        <a:rPr lang="en-US" sz="950" b="0">
                          <a:solidFill>
                            <a:srgbClr val="2D3748"/>
                          </a:solidFill>
                        </a:rPr>
                        <a:t>Log aggregation, ingestion indexing, and static threshold correlation rules.</a:t>
                      </a:r>
                    </a:p>
                  </a:txBody>
                  <a:tcPr>
                    <a:solidFill>
                      <a:srgbClr val="FFFFFF"/>
                    </a:solidFill>
                    <a:lnB w="6350">
                      <a:solidFill>
                        <a:srgbClr val="CBD5E0"/>
                      </a:solidFill>
                    </a:lnB>
                  </a:tcPr>
                </a:tc>
                <a:tc>
                  <a:txBody>
                    <a:bodyPr/>
                    <a:lstStyle/>
                    <a:p>
                      <a:pPr algn="l"/>
                      <a:r>
                        <a:rPr lang="en-US" sz="950" b="0">
                          <a:solidFill>
                            <a:srgbClr val="2D3748"/>
                          </a:solidFill>
                        </a:rPr>
                        <a:t>Detection-only paradigm; zero endpoint volatile memory capture or active containment.</a:t>
                      </a:r>
                    </a:p>
                  </a:txBody>
                  <a:tcPr>
                    <a:solidFill>
                      <a:srgbClr val="FFFFFF"/>
                    </a:solidFill>
                    <a:lnB w="6350">
                      <a:solidFill>
                        <a:srgbClr val="CBD5E0"/>
                      </a:solidFill>
                    </a:lnB>
                  </a:tcPr>
                </a:tc>
                <a:tc>
                  <a:txBody>
                    <a:bodyPr/>
                    <a:lstStyle/>
                    <a:p>
                      <a:pPr algn="l"/>
                      <a:r>
                        <a:rPr lang="en-US" sz="950" b="0">
                          <a:solidFill>
                            <a:srgbClr val="2D3748"/>
                          </a:solidFill>
                        </a:rPr>
                        <a:t>Synchronous OS-level trigger acquiring volatile telemetry at T0.</a:t>
                      </a:r>
                    </a:p>
                  </a:txBody>
                  <a:tcPr>
                    <a:solidFill>
                      <a:srgbClr val="FFFFFF"/>
                    </a:solidFill>
                    <a:lnB w="6350">
                      <a:solidFill>
                        <a:srgbClr val="CBD5E0"/>
                      </a:solidFill>
                    </a:lnB>
                  </a:tcPr>
                </a:tc>
              </a:tr>
              <a:tr h="400000">
                <a:tc>
                  <a:txBody>
                    <a:bodyPr/>
                    <a:lstStyle/>
                    <a:p>
                      <a:pPr algn="l"/>
                      <a:r>
                        <a:rPr lang="en-US" sz="950" b="1">
                          <a:solidFill>
                            <a:srgbClr val="2D3748"/>
                          </a:solidFill>
                        </a:rPr>
                        <a:t>Monolithic SOAR
(Islam et al., 2025)</a:t>
                      </a:r>
                    </a:p>
                  </a:txBody>
                  <a:tcPr>
                    <a:solidFill>
                      <a:srgbClr val="FAFAFA"/>
                    </a:solidFill>
                    <a:lnB w="6350">
                      <a:solidFill>
                        <a:srgbClr val="CBD5E0"/>
                      </a:solidFill>
                    </a:lnB>
                  </a:tcPr>
                </a:tc>
                <a:tc>
                  <a:txBody>
                    <a:bodyPr/>
                    <a:lstStyle/>
                    <a:p>
                      <a:pPr algn="l"/>
                      <a:r>
                        <a:rPr lang="en-US" sz="950" b="0">
                          <a:solidFill>
                            <a:srgbClr val="2D3748"/>
                          </a:solidFill>
                        </a:rPr>
                        <a:t>Cloud-hosted playbooks with extensive multi-vendor API connectors.</a:t>
                      </a:r>
                    </a:p>
                  </a:txBody>
                  <a:tcPr>
                    <a:solidFill>
                      <a:srgbClr val="FAFAFA"/>
                    </a:solidFill>
                    <a:lnB w="6350">
                      <a:solidFill>
                        <a:srgbClr val="CBD5E0"/>
                      </a:solidFill>
                    </a:lnB>
                  </a:tcPr>
                </a:tc>
                <a:tc>
                  <a:txBody>
                    <a:bodyPr/>
                    <a:lstStyle/>
                    <a:p>
                      <a:pPr algn="l"/>
                      <a:r>
                        <a:rPr lang="en-US" sz="950" b="0">
                          <a:solidFill>
                            <a:srgbClr val="2D3748"/>
                          </a:solidFill>
                        </a:rPr>
                        <a:t>Prohibitive operational cost, closed-source lock-in, and high cold-start latency.</a:t>
                      </a:r>
                    </a:p>
                  </a:txBody>
                  <a:tcPr>
                    <a:solidFill>
                      <a:srgbClr val="FAFAFA"/>
                    </a:solidFill>
                    <a:lnB w="6350">
                      <a:solidFill>
                        <a:srgbClr val="CBD5E0"/>
                      </a:solidFill>
                    </a:lnB>
                  </a:tcPr>
                </a:tc>
                <a:tc>
                  <a:txBody>
                    <a:bodyPr/>
                    <a:lstStyle/>
                    <a:p>
                      <a:pPr algn="l"/>
                      <a:r>
                        <a:rPr lang="en-US" sz="950" b="0">
                          <a:solidFill>
                            <a:srgbClr val="2D3748"/>
                          </a:solidFill>
                        </a:rPr>
                        <a:t>Lightweight asynchronous REST pipeline (FastAPI + SQLite), zero external fees.</a:t>
                      </a:r>
                    </a:p>
                  </a:txBody>
                  <a:tcPr>
                    <a:solidFill>
                      <a:srgbClr val="FAFAFA"/>
                    </a:solidFill>
                    <a:lnB w="6350">
                      <a:solidFill>
                        <a:srgbClr val="CBD5E0"/>
                      </a:solidFill>
                    </a:lnB>
                  </a:tcPr>
                </a:tc>
              </a:tr>
              <a:tr h="400000">
                <a:tc>
                  <a:txBody>
                    <a:bodyPr/>
                    <a:lstStyle/>
                    <a:p>
                      <a:pPr algn="l"/>
                      <a:r>
                        <a:rPr lang="en-US" sz="950" b="1">
                          <a:solidFill>
                            <a:srgbClr val="2D3748"/>
                          </a:solidFill>
                        </a:rPr>
                        <a:t>Manual DFIR Scripts
(NIST SP 800-61)</a:t>
                      </a:r>
                    </a:p>
                  </a:txBody>
                  <a:tcPr>
                    <a:solidFill>
                      <a:srgbClr val="FFFFFF"/>
                    </a:solidFill>
                    <a:lnB w="6350">
                      <a:solidFill>
                        <a:srgbClr val="CBD5E0"/>
                      </a:solidFill>
                    </a:lnB>
                  </a:tcPr>
                </a:tc>
                <a:tc>
                  <a:txBody>
                    <a:bodyPr/>
                    <a:lstStyle/>
                    <a:p>
                      <a:pPr algn="l"/>
                      <a:r>
                        <a:rPr lang="en-US" sz="950" b="0">
                          <a:solidFill>
                            <a:srgbClr val="2D3748"/>
                          </a:solidFill>
                        </a:rPr>
                        <a:t>Ad-hoc CLI command execution during scheduled post-incident analysis.</a:t>
                      </a:r>
                    </a:p>
                  </a:txBody>
                  <a:tcPr>
                    <a:solidFill>
                      <a:srgbClr val="FFFFFF"/>
                    </a:solidFill>
                    <a:lnB w="6350">
                      <a:solidFill>
                        <a:srgbClr val="CBD5E0"/>
                      </a:solidFill>
                    </a:lnB>
                  </a:tcPr>
                </a:tc>
                <a:tc>
                  <a:txBody>
                    <a:bodyPr/>
                    <a:lstStyle/>
                    <a:p>
                      <a:pPr algn="l"/>
                      <a:r>
                        <a:rPr lang="en-US" sz="950" b="0">
                          <a:solidFill>
                            <a:srgbClr val="2D3748"/>
                          </a:solidFill>
                        </a:rPr>
                        <a:t>Volatile sockets wiped by attackers prior to analyst login; custody challenges.</a:t>
                      </a:r>
                    </a:p>
                  </a:txBody>
                  <a:tcPr>
                    <a:solidFill>
                      <a:srgbClr val="FFFFFF"/>
                    </a:solidFill>
                    <a:lnB w="6350">
                      <a:solidFill>
                        <a:srgbClr val="CBD5E0"/>
                      </a:solidFill>
                    </a:lnB>
                  </a:tcPr>
                </a:tc>
                <a:tc>
                  <a:txBody>
                    <a:bodyPr/>
                    <a:lstStyle/>
                    <a:p>
                      <a:pPr algn="l"/>
                      <a:r>
                        <a:rPr lang="en-US" sz="950" b="0">
                          <a:solidFill>
                            <a:srgbClr val="2D3748"/>
                          </a:solidFill>
                        </a:rPr>
                        <a:t>Atomic SHA-256 generation concurrent with OS process execution.</a:t>
                      </a:r>
                    </a:p>
                  </a:txBody>
                  <a:tcPr>
                    <a:solidFill>
                      <a:srgbClr val="FFFFFF"/>
                    </a:solidFill>
                    <a:lnB w="6350">
                      <a:solidFill>
                        <a:srgbClr val="CBD5E0"/>
                      </a:solidFill>
                    </a:lnB>
                  </a:tcPr>
                </a:tc>
              </a:tr>
            </a:tbl>
          </a:graphicData>
        </a:graphic>
      </p:graphicFrame>
    </p:spTree>
  </p:cSld>
  <p:clrMapOvr>
    <a:masterClrMapping/>
  </p:clrMapOvr>
</p:sld>
</file>

<file path=ppt/slides/slide5.xml><?xml version="1.0" encoding="UTF-8" standalone="yes"?><p:sld xmlns:a="http://schemas.openxmlformats.org/drawingml/2006/main" xmlns:r="http://schemas.openxmlformats.org/officeDocument/2006/relationships" xmlns:p="http://schemas.openxmlformats.org/presentationml/2006/main"><p:cSld><p:spTree><p:nvGrpSpPr><p:cNvPr id="1" name=""/><p:cNvGrpSpPr/><p:nvPr/></p:nvGrpSpPr><p:grpSpPr/><p:sp><p:nvSpPr><p:cNvPr id="10" name="T10"/><p:cNvSpPr txBox="1"/><p:nvPr/></p:nvSpPr><p:spPr><a:xfrm><a:off x="800000" y="450000"/><a:ext cx="7000000" cy="250000"/></a:xfrm><a:prstGeom prst="rect"><a:avLst/></a:prstGeom><a:noFill/></p:spPr><p:txBody><a:bodyPr wrap="square" l="0" r="0" t="0" b="0"/><a:lstStyle/><a:p><a:pPr algn="l"></a:pPr><a:r><a:rPr lang="en-US" sz="950" b="1" dirty="0"><a:solidFill><a:srgbClr val="4A5568"/></a:solidFill></a:rPr><a:t>PROPOSED SYSTEM DESIGN</a:t></a:r></a:p></p:txBody></p:sp><p:sp><p:nvSpPr><p:cNvPr id="11" name="T11"/><p:cNvSpPr txBox="1"/><p:nvPr/></p:nvSpPr><p:spPr><a:xfrm><a:off x="10200000" y="450000"/><a:ext cx="1200000" cy="250000"/></a:xfrm><a:prstGeom prst="rect"><a:avLst/></a:prstGeom><a:noFill/></p:spPr><p:txBody><a:bodyPr wrap="square" l="0" r="0" t="0" b="0"/><a:lstStyle/><a:p><a:pPr algn="l"></a:pPr><a:r><a:rPr lang="en-US" sz="950" b="1" dirty="0"><a:solidFill><a:srgbClr val="718096"/></a:solidFill></a:rPr><a:t>05 / 11</a:t></a:r></a:p></p:txBody></p:sp><p:sp><p:nvSpPr><p:cNvPr id="12" name="T12"/><p:cNvSpPr txBox="1"/><p:nvPr/></p:nvSpPr><p:spPr><a:xfrm><a:off x="800000" y="720000"/><a:ext cx="10600000" cy="450000"/></a:xfrm><a:prstGeom prst="rect"><a:avLst/></a:prstGeom><a:noFill/></p:spPr><p:txBody><a:bodyPr wrap="square" l="0" r="0" t="0" b="0"/><a:lstStyle/><a:p><a:pPr algn="l"></a:pPr><a:r><a:rPr lang="en-US" sz="1900" b="1" dirty="0"><a:solidFill><a:srgbClr val="1E232A"/></a:solidFill></a:rPr><a:t>Four-Tier End-to-End Orchestration &amp; DFIR Architecture</a:t></a:r></a:p></p:txBody></p:sp><p:sp><p:nvSpPr><p:cNvPr id="13" name="R13"/><p:cNvSpPr/><p:nvPr/></p:nvSpPr><p:spPr><a:xfrm><a:off x="800000" y="1220000"/><a:ext cx="10600000" cy="12700"/></a:xfrm><a:prstGeom prst="rect"><a:avLst/></a:prstGeom><a:solidFill><a:srgbClr val="CBD5E0"/></a:solidFill><a:ln><a:noFill/></a:ln></p:spPr></p:sp><p:pic><p:nvPicPr><p:cNvPr id="60" name="Img60"/><p:cNvPicPr><a:picLocks noChangeAspect="1"/></p:cNvPicPr><p:nvPr/></p:nvPicPr><p:blipFill><a:blip r:embed="rIdArch"/><a:stretch><a:fillRect/></a:stretch></p:blipFill><p:spPr><a:xfrm><a:off x="800000" y="1450000"/><a:ext cx="6000000" cy="4800000"/></a:xfrm><a:prstGeom prst="rect"><a:avLst/></a:prstGeom><a:ln w="12700"><a:solidFill><a:srgbClr val="D2D6DC"/></a:solidFill></a:ln></p:spPr></p:pic><p:sp><p:nvSpPr><p:cNvPr id="61" name="R61"/><p:cNvSpPr/><p:nvPr/></p:nvSpPr><p:spPr><a:xfrm><a:off x="7000000" y="1450000"/><a:ext cx="4400000" cy="4800000"/></a:xfrm><a:prstGeom prst="rect"><a:avLst/></a:prstGeom><a:solidFill><a:srgbClr val="F7FAFC"/></a:solidFill><a:ln w="9525"><a:solidFill><a:srgbClr val="E2E8F0"/></a:solidFill></a:ln></p:spPr></p:sp><p:sp><p:nvSpPr><p:cNvPr id="62" name="T62"/><p:cNvSpPr txBox="1"/><p:nvPr/></p:nvSpPr><p:spPr><a:xfrm><a:off x="7200000" y="1650000"/><a:ext cx="4000000" cy="4400000"/></a:xfrm><a:prstGeom prst="rect"><a:avLst/></a:prstGeom><a:noFill/></p:spPr><p:txBody><a:bodyPr wrap="square" l="0" r="0" t="0" b="0"/><a:lstStyle/><a:p><a:pPr algn="l"<a:spcAft><a:spcPts val="1000"/></a:spcAft>></a:pPr><a:r><a:rPr lang="en-US" sz="1250" b="1" dirty="0"><a:solidFill><a:srgbClr val="1E232A"/></a:solidFill></a:rPr><a:t>Four Architectural Tiers</a:t></a:r></a:p><a:p><a:pPr algn="l"<a:spcAft><a:spcPts val="1000"/></a:spcAft> marL="260000" indent="-260000"><a:buFont typeface="Arial"/><a:buChar char="—"/></a:pPr><a:r><a:rPr lang="en-US" sz="1000" b="0" dirty="0"><a:solidFill><a:srgbClr val="2D3748"/></a:solidFill></a:rPr><a:t>Tier 1 (Telemetry): Windows 10 Host (Agent 001) ships Event ID 4625 failed auth logs to Kali Linux Wazuh Manager (Rule 100051).</a:t></a:r></a:p><a:p><a:pPr algn="l"<a:spcAft><a:spcPts val="1000"/></a:spcAft> marL="260000" indent="-260000"><a:buFont typeface="Arial"/><a:buChar char="—"/></a:pPr><a:r><a:rPr lang="en-US" sz="1000" b="0" dirty="0"><a:solidFill><a:srgbClr val="2D3748"/></a:solidFill></a:rPr><a:t>Tier 2 (SOAR Core): FastAPI async pipeline parses entities (IP, user), maps MITRE T1110.001, and writes to 5-table SQLite store.</a:t></a:r></a:p><a:p><a:pPr algn="l"<a:spcAft><a:spcPts val="1000"/></a:spcAft> marL="260000" indent="-260000"><a:buFont typeface="Arial"/><a:buChar char="—"/></a:pPr><a:r><a:rPr lang="en-US" sz="1000" b="0" dirty="0"><a:solidFill><a:srgbClr val="2D3748"/></a:solidFill></a:rPr><a:t>Tier 3 (DFIR Engine): Non-blocking execution of OS forensics (tasklist, netstat, query session, wevtutil) capturing volatile host state.</a:t></a:r></a:p><a:p><a:pPr algn="l" marL="260000" indent="-260000"><a:buFont typeface="Arial"/><a:buChar char="—"/></a:pPr><a:r><a:rPr lang="en-US" sz="1000" b="0" dirty="0"><a:solidFill><a:srgbClr val="2D3748"/></a:solidFill></a:rPr><a:t>Tier 4 (Custody &amp; Reporting): Cryptographic SHA-256 hashing at capture, dual safety response gates, and ReportLab PDF compiler.</a:t></a:r></a:p></p:txBody></p:sp></p:spTree></p:cSld><p:clrMapOvr><a:masterClrMapping/></p:clrMapOvr></p:sld>
</file>

<file path=ppt/slides/slide6.xml><?xml version="1.0" encoding="UTF-8" standalone="yes"?><p:sld xmlns:a="http://schemas.openxmlformats.org/drawingml/2006/main" xmlns:r="http://schemas.openxmlformats.org/officeDocument/2006/relationships" xmlns:p="http://schemas.openxmlformats.org/presentationml/2006/main"><p:cSld><p:spTree><p:nvGrpSpPr><p:cNvPr id="1" name=""/><p:cNvGrpSpPr/><p:nvPr/></p:nvGrpSpPr><p:grpSpPr/><p:sp><p:nvSpPr><p:cNvPr id="10" name="T10"/><p:cNvSpPr txBox="1"/><p:nvPr/></p:nvSpPr><p:spPr><a:xfrm><a:off x="800000" y="450000"/><a:ext cx="7000000" cy="250000"/></a:xfrm><a:prstGeom prst="rect"><a:avLst/></a:prstGeom><a:noFill/></p:spPr><p:txBody><a:bodyPr wrap="square" l="0" r="0" t="0" b="0"/><a:lstStyle/><a:p><a:pPr algn="l"></a:pPr><a:r><a:rPr lang="en-US" sz="950" b="1" dirty="0"><a:solidFill><a:srgbClr val="4A5568"/></a:solidFill></a:rPr><a:t>METHODOLOGY &amp; PIPELINE</a:t></a:r></a:p></p:txBody></p:sp><p:sp><p:nvSpPr><p:cNvPr id="11" name="T11"/><p:cNvSpPr txBox="1"/><p:nvPr/></p:nvSpPr><p:spPr><a:xfrm><a:off x="10200000" y="450000"/><a:ext cx="1200000" cy="250000"/></a:xfrm><a:prstGeom prst="rect"><a:avLst/></a:prstGeom><a:noFill/></p:spPr><p:txBody><a:bodyPr wrap="square" l="0" r="0" t="0" b="0"/><a:lstStyle/><a:p><a:pPr algn="l"></a:pPr><a:r><a:rPr lang="en-US" sz="950" b="1" dirty="0"><a:solidFill><a:srgbClr val="718096"/></a:solidFill></a:rPr><a:t>06 / 11</a:t></a:r></a:p></p:txBody></p:sp><p:sp><p:nvSpPr><p:cNvPr id="12" name="T12"/><p:cNvSpPr txBox="1"/><p:nvPr/></p:nvSpPr><p:spPr><a:xfrm><a:off x="800000" y="720000"/><a:ext cx="10600000" cy="450000"/></a:xfrm><a:prstGeom prst="rect"><a:avLst/></a:prstGeom><a:noFill/></p:spPr><p:txBody><a:bodyPr wrap="square" l="0" r="0" t="0" b="0"/><a:lstStyle/><a:p><a:pPr algn="l"></a:pPr><a:r><a:rPr lang="en-US" sz="1900" b="1" dirty="0"><a:solidFill><a:srgbClr val="1E232A"/></a:solidFill></a:rPr><a:t>Correlation Logic, Flowchart, and Cryptographic Formulation</a:t></a:r></a:p></p:txBody></p:sp><p:sp><p:nvSpPr><p:cNvPr id="13" name="R13"/><p:cNvSpPr/><p:nvPr/></p:nvSpPr><p:spPr><a:xfrm><a:off x="800000" y="1220000"/><a:ext cx="10600000" cy="12700"/></a:xfrm><a:prstGeom prst="rect"><a:avLst/></a:prstGeom><a:solidFill><a:srgbClr val="CBD5E0"/></a:solidFill><a:ln><a:noFill/></a:ln></p:spPr></p:sp><p:pic><p:nvPicPr><p:cNvPr id="70" name="Img70"/><p:cNvPicPr><a:picLocks noChangeAspect="1"/></p:cNvPicPr><p:nvPr/></p:nvPicPr><p:blipFill><a:blip r:embed="rIdFlow"/><a:stretch><a:fillRect/></a:stretch></p:blipFill><p:spPr><a:xfrm><a:off x="800000" y="1450000"/><a:ext cx="5400000" cy="4800000"/></a:xfrm><a:prstGeom prst="rect"><a:avLst/></a:prstGeom><a:ln w="12700"><a:solidFill><a:srgbClr val="D2D6DC"/></a:solidFill></a:ln></p:spPr></p:pic><p:sp><p:nvSpPr><p:cNvPr id="71" name="R71"/><p:cNvSpPr/><p:nvPr/></p:nvSpPr><p:spPr><a:xfrm><a:off x="6400000" y="1450000"/><a:ext cx="5000000" cy="4800000"/></a:xfrm><a:prstGeom prst="rect"><a:avLst/></a:prstGeom><a:solidFill><a:srgbClr val="F7FAFC"/></a:solidFill><a:ln w="9525"><a:solidFill><a:srgbClr val="E2E8F0"/></a:solidFill></a:ln></p:spPr></p:sp><p:sp><p:nvSpPr><p:cNvPr id="72" name="T72"/><p:cNvSpPr txBox="1"/><p:nvPr/></p:nvSpPr><p:spPr><a:xfrm><a:off x="6600000" y="1650000"/><a:ext cx="4600000" cy="4400000"/></a:xfrm><a:prstGeom prst="rect"><a:avLst/></a:prstGeom><a:noFill/></p:spPr><p:txBody><a:bodyPr wrap="square" l="0" r="0" t="0" b="0"/><a:lstStyle/><a:p><a:pPr algn="l"<a:spcAft><a:spcPts val="300"/></a:spcAft>></a:pPr><a:r><a:rPr lang="en-US" sz="1150" b="1" dirty="0"><a:solidFill><a:srgbClr val="1E232A"/></a:solidFill></a:rPr><a:t>1. Correlation Window Trigger Formulation</a:t></a:r></a:p><a:p><a:pPr algn="l"<a:spcAft><a:spcPts val="200"/></a:spcAft>></a:pPr><a:r><a:rPr lang="en-US" sz="1050" b="1" dirty="0"><a:solidFill><a:srgbClr val="1E232A"/></a:solidFill></a:rPr><a:t>Trigger(I) = 1  if  SUM[t=T0 to T0+dt] (Event == 4625) &gt;= K</a:t></a:r></a:p><a:p><a:pPr algn="l"<a:spcAft><a:spcPts val="1400"/></a:spcAft>></a:pPr><a:r><a:rPr lang="en-US" sz="900" b="0" dirty="0"><a:solidFill><a:srgbClr val="718096"/></a:solidFill></a:rPr><a:t>where threshold K = 5 failures, window dt = 120 seconds</a:t></a:r></a:p><a:p><a:pPr algn="l"<a:spcAft><a:spcPts val="300"/></a:spcAft>></a:pPr><a:r><a:rPr lang="en-US" sz="1150" b="1" dirty="0"><a:solidFill><a:srgbClr val="1E232A"/></a:solidFill></a:rPr><a:t>2. Cryptographic Integrity (NIST SP 800-86)</a:t></a:r></a:p><a:p><a:pPr algn="l"<a:spcAft><a:spcPts val="200"/></a:spcAft>></a:pPr><a:r><a:rPr lang="en-US" sz="1050" b="1" dirty="0"><a:solidFill><a:srgbClr val="1E232A"/></a:solidFill></a:rPr><a:t>H(Ai) = SHA-256(Ai) = SUM[b in Ai] Compress(b)</a:t></a:r></a:p><a:p><a:pPr algn="l"<a:spcAft><a:spcPts val="1400"/></a:spcAft>></a:pPr><a:r><a:rPr lang="en-US" sz="1050" b="1" dirty="0"><a:solidFill><a:srgbClr val="1E232A"/></a:solidFill></a:rPr><a:t>V(Ai) = (SHA-256(Ai,disk) == H_stored) ? MATCH : TAMPERED</a:t></a:r></a:p><a:p><a:pPr algn="l"<a:spcAft><a:spcPts val="300"/></a:spcAft>></a:pPr><a:r><a:rPr lang="en-US" sz="1150" b="1" dirty="0"><a:solidFill><a:srgbClr val="1E232A"/></a:solidFill></a:rPr><a:t>3. Autonomous DFIR Pseudocode</a:t></a:r></a:p><a:p><a:pPr algn="l"></a:pPr><a:r><a:rPr lang="en-US" sz="900" b="1" dirty="0"><a:solidFill><a:srgbClr val="4A5568"/></a:solidFill></a:rPr><a:t>cmds = ['tasklist /fo csv', 'netstat -ano', 'query session']
for tag, cmd in cmds:
    raw = execute_subprocess(cmd)
    fpath = write_disk(incident_id, tag, raw)
    h = hashlib.sha256(raw).hexdigest()
    db.insert_evidence(incident_id, fpath, h)</a:t></a:r></a:p></p:txBody></p:sp></p:spTree></p:cSld><p:clrMapOvr><a:masterClrMapping/></p:clrMapOvr></p:sld>
</file>

<file path=ppt/slides/slide7.xml><?xml version="1.0" encoding="UTF-8" standalone="yes"?><p:sld xmlns:a="http://schemas.openxmlformats.org/drawingml/2006/main" xmlns:r="http://schemas.openxmlformats.org/officeDocument/2006/relationships" xmlns:p="http://schemas.openxmlformats.org/presentationml/2006/main"><p:cSld><p:spTree><p:nvGrpSpPr><p:cNvPr id="1" name=""/><p:cNvGrpSpPr/><p:nvPr/></p:nvGrpSpPr><p:grpSpPr/><p:sp><p:nvSpPr><p:cNvPr id="10" name="T10"/><p:cNvSpPr txBox="1"/><p:nvPr/></p:nvSpPr><p:spPr><a:xfrm><a:off x="800000" y="450000"/><a:ext cx="7000000" cy="250000"/></a:xfrm><a:prstGeom prst="rect"><a:avLst/></a:prstGeom><a:noFill/></p:spPr><p:txBody><a:bodyPr wrap="square" l="0" r="0" t="0" b="0"/><a:lstStyle/><a:p><a:pPr algn="l"></a:pPr><a:r><a:rPr lang="en-US" sz="950" b="1" dirty="0"><a:solidFill><a:srgbClr val="4A5568"/></a:solidFill></a:rPr><a:t>EXPERIMENTAL SETUP</a:t></a:r></a:p></p:txBody></p:sp><p:sp><p:nvSpPr><p:cNvPr id="11" name="T11"/><p:cNvSpPr txBox="1"/><p:nvPr/></p:nvSpPr><p:spPr><a:xfrm><a:off x="10200000" y="450000"/><a:ext cx="1200000" cy="250000"/></a:xfrm><a:prstGeom prst="rect"><a:avLst/></a:prstGeom><a:noFill/></p:spPr><p:txBody><a:bodyPr wrap="square" l="0" r="0" t="0" b="0"/><a:lstStyle/><a:p><a:pPr algn="l"></a:pPr><a:r><a:rPr lang="en-US" sz="950" b="1" dirty="0"><a:solidFill><a:srgbClr val="718096"/></a:solidFill></a:rPr><a:t>07 / 11</a:t></a:r></a:p></p:txBody></p:sp><p:sp><p:nvSpPr><p:cNvPr id="12" name="T12"/><p:cNvSpPr txBox="1"/><p:nvPr/></p:nvSpPr><p:spPr><a:xfrm><a:off x="800000" y="720000"/><a:ext cx="10600000" cy="450000"/></a:xfrm><a:prstGeom prst="rect"><a:avLst/></a:prstGeom><a:noFill/></p:spPr><p:txBody><a:bodyPr wrap="square" l="0" r="0" t="0" b="0"/><a:lstStyle/><a:p><a:pPr algn="l"></a:pPr><a:r><a:rPr lang="en-US" sz="1900" b="1" dirty="0"><a:solidFill><a:srgbClr val="1E232A"/></a:solidFill></a:rPr><a:t>Lab Testbed Configuration &amp; Quantitative Evaluation Metrics</a:t></a:r></a:p></p:txBody></p:sp><p:sp><p:nvSpPr><p:cNvPr id="13" name="R13"/><p:cNvSpPr/><p:nvPr/></p:nvSpPr><p:spPr><a:xfrm><a:off x="800000" y="1220000"/><a:ext cx="10600000" cy="12700"/></a:xfrm><a:prstGeom prst="rect"><a:avLst/></a:prstGeom><a:solidFill><a:srgbClr val="CBD5E0"/></a:solidFill><a:ln><a:noFill/></a:ln></p:spPr></p:sp><p:sp><p:nvSpPr><p:cNvPr id="80" name="R80"/><p:cNvSpPr/><p:nvPr/></p:nvSpPr><p:spPr><a:xfrm><a:off x="800000" y="1450000"/><a:ext cx="4900000" cy="4800000"/></a:xfrm><a:prstGeom prst="rect"><a:avLst/></a:prstGeom><a:solidFill><a:srgbClr val="F7FAFC"/></a:solidFill><a:ln w="9525"><a:solidFill><a:srgbClr val="E2E8F0"/></a:solidFill></a:ln></p:spPr></p:sp><p:sp><p:nvSpPr><p:cNvPr id="81" name="T81"/><p:cNvSpPr txBox="1"/><p:nvPr/></p:nvSpPr><p:spPr><a:xfrm><a:off x="1050000" y="1700000"/><a:ext cx="4400000" cy="4300000"/></a:xfrm><a:prstGeom prst="rect"><a:avLst/></a:prstGeom><a:noFill/></p:spPr><p:txBody><a:bodyPr wrap="square" l="0" r="0" t="0" b="0"/><a:lstStyle/><a:p><a:pPr algn="l"<a:spcAft><a:spcPts val="800"/></a:spcAft>></a:pPr><a:r><a:rPr lang="en-US" sz="1250" b="1" dirty="0"><a:solidFill><a:srgbClr val="1E232A"/></a:solidFill></a:rPr><a:t>Testbed &amp; Workload Specifications</a:t></a:r></a:p><a:p><a:pPr algn="l"<a:spcAft><a:spcPts val="1000"/></a:spcAft> marL="260000" indent="-260000"><a:buFont typeface="Arial"/><a:buChar char="—"/></a:pPr><a:r><a:rPr lang="en-US" sz="1000" b="0" dirty="0"><a:solidFill><a:srgbClr val="2D3748"/></a:solidFill></a:rPr><a:t>Monitored Endpoint: Windows 10 Pro 64-bit host (16 GB RAM, Intel i5/i7) running Wazuh Agent v4.14.7.</a:t></a:r></a:p><a:p><a:pPr algn="l"<a:spcAft><a:spcPts val="1000"/></a:spcAft> marL="260000" indent="-260000"><a:buFont typeface="Arial"/><a:buChar char="—"/></a:pPr><a:r><a:rPr lang="en-US" sz="1000" b="0" dirty="0"><a:solidFill><a:srgbClr val="2D3748"/></a:solidFill></a:rPr><a:t>Manager Appliance: Kali Linux VM (192.168.31.68:55000) executing Wazuh Manager correlation engine.</a:t></a:r></a:p><a:p><a:pPr algn="l"<a:spcAft><a:spcPts val="1000"/></a:spcAft> marL="260000" indent="-260000"><a:buFont typeface="Arial"/><a:buChar char="—"/></a:pPr><a:r><a:rPr lang="en-US" sz="1000" b="0" dirty="0"><a:solidFill><a:srgbClr val="2D3748"/></a:solidFill></a:rPr><a:t>Simulated Attack Workload: Automated attack harness (simulate_bruteforce.ps1) executing repetitive NetLogon queries generating Event 4625 logs.</a:t></a:r></a:p><a:p><a:pPr algn="l" marL="260000" indent="-260000"><a:buFont typeface="Arial"/><a:buChar char="—"/></a:pPr><a:r><a:rPr lang="en-US" sz="1000" b="0" dirty="0"><a:solidFill><a:srgbClr val="2D3748"/></a:solidFill></a:rPr><a:t>Historical Sample Corpus: Evaluated across 40+ iterative attack cycles persisted in the SQLite transactional store.</a:t></a:r></a:p></p:txBody></p:sp><p:pic><p:nvPicPr><p:cNvPr id="82" name="Img82"/><p:cNvPicPr><a:picLocks noChangeAspect="1"/></p:cNvPicPr><p:nvPr/></p:nvPicPr><p:blipFill><a:blip r:embed="rIdDash"/><a:stretch><a:fillRect/></a:stretch></p:blipFill><p:spPr><a:xfrm><a:off x="5900000" y="1450000"/><a:ext cx="5500000" cy="4800000"/></a:xfrm><a:prstGeom prst="rect"><a:avLst/></a:prstGeom><a:ln w="12700"><a:solidFill><a:srgbClr val="D2D6DC"/></a:solidFill></a:ln></p:spPr></p:pic></p:spTree></p:cSld><p:clrMapOvr><a:masterClrMapping/></p:clrMapOvr></p:sld>
</file>

<file path=ppt/slides/slide8.xml><?xml version="1.0" encoding="UTF-8" standalone="yes"?><p:sld xmlns:a="http://schemas.openxmlformats.org/drawingml/2006/main" xmlns:r="http://schemas.openxmlformats.org/officeDocument/2006/relationships" xmlns:p="http://schemas.openxmlformats.org/presentationml/2006/main"><p:cSld><p:spTree><p:nvGrpSpPr><p:cNvPr id="1" name=""/><p:cNvGrpSpPr/><p:nvPr/></p:nvGrpSpPr><p:grpSpPr/><p:sp><p:nvSpPr><p:cNvPr id="10" name="T10"/><p:cNvSpPr txBox="1"/><p:nvPr/></p:nvSpPr><p:spPr><a:xfrm><a:off x="800000" y="450000"/><a:ext cx="7000000" cy="250000"/></a:xfrm><a:prstGeom prst="rect"><a:avLst/></a:prstGeom><a:noFill/></p:spPr><p:txBody><a:bodyPr wrap="square" l="0" r="0" t="0" b="0"/><a:lstStyle/><a:p><a:pPr algn="l"></a:pPr><a:r><a:rPr lang="en-US" sz="950" b="1" dirty="0"><a:solidFill><a:srgbClr val="4A5568"/></a:solidFill></a:rPr><a:t>RESULTS &amp; COMPARATIVE ANALYSIS</a:t></a:r></a:p></p:txBody></p:sp><p:sp><p:nvSpPr><p:cNvPr id="11" name="T11"/><p:cNvSpPr txBox="1"/><p:nvPr/></p:nvSpPr><p:spPr><a:xfrm><a:off x="10200000" y="450000"/><a:ext cx="1200000" cy="250000"/></a:xfrm><a:prstGeom prst="rect"><a:avLst/></a:prstGeom><a:noFill/></p:spPr><p:txBody><a:bodyPr wrap="square" l="0" r="0" t="0" b="0"/><a:lstStyle/><a:p><a:pPr algn="l"></a:pPr><a:r><a:rPr lang="en-US" sz="950" b="1" dirty="0"><a:solidFill><a:srgbClr val="718096"/></a:solidFill></a:rPr><a:t>08 / 11</a:t></a:r></a:p></p:txBody></p:sp><p:sp><p:nvSpPr><p:cNvPr id="12" name="T12"/><p:cNvSpPr txBox="1"/><p:nvPr/></p:nvSpPr><p:spPr><a:xfrm><a:off x="800000" y="720000"/><a:ext cx="10600000" cy="450000"/></a:xfrm><a:prstGeom prst="rect"><a:avLst/></a:prstGeom><a:noFill/></p:spPr><p:txBody><a:bodyPr wrap="square" l="0" r="0" t="0" b="0"/><a:lstStyle/><a:p><a:pPr algn="l"></a:pPr><a:r><a:rPr lang="en-US" sz="1900" b="1" dirty="0"><a:solidFill><a:srgbClr val="1E232A"/></a:solidFill></a:rPr><a:t>Benchmarking Against Manual SOC &amp; Commercial SOAR</a:t></a:r></a:p></p:txBody></p:sp><p:sp><p:nvSpPr><p:cNvPr id="13" name="R13"/><p:cNvSpPr/><p:nvPr/></p:nvSpPr><p:spPr><a:xfrm><a:off x="800000" y="1220000"/><a:ext cx="10600000" cy="12700"/></a:xfrm><a:prstGeom prst="rect"><a:avLst/></a:prstGeom><a:solidFill><a:srgbClr val="CBD5E0"/></a:solidFill><a:ln><a:noFill/></a:ln></p:spPr></p:sp><p:graphicFrame><p:nvGraphicFramePr><p:cNvPr id="90" name="Tbl90"/><p:cNvGraphicFramePr><a:graphicFrameLocks noGrp="1"/></p:cNvGraphicFramePr><p:nvPr/></p:nvGraphicFramePr><p:xfrm><a:off x="800000" y="1450000"/><a:ext cx="10600000" cy="2700000"/></p:xfrm><a:graphic><a:graphicData uri="http://schemas.openxmlformats.org/drawingml/2006/table"><a:tbl><a:tblPr><a:tableStyleId>{59604425-5880-4E81-82A0-42699D6A4283}</a:tableStyleId></a:tblPr><a:tblGrid><a:gridCol w="2600000"/><a:gridCol w="1900000"/><a:gridCol w="1900000"/><a:gridCol w="1800000"/><a:gridCol w="2400000"/></a:tblGrid><a:tr h="360000"><a:tc><a:txBody><a:bodyPr/><a:lstStyle/><a:p><a:pPr algn="l"/><a:r><a:rPr lang="en-US" sz="1000" b="1"><a:solidFill><a:srgbClr val="1E232A"/></a:solidFill></a:rPr><a:t>Operational Metric</a:t></a:r></a:p></a:txBody><a:tcPr><a:solidFill><a:srgbClr val="F7FAFC"/></a:solidFill><a:lnB w="12700"><a:solidFill><a:srgbClr val="1E232A"/></a:solidFill></a:lnB></a:tcPr></a:tc><a:tc><a:txBody><a:bodyPr/><a:lstStyle/><a:p><a:pPr algn="l"/><a:r><a:rPr lang="en-US" sz="1000" b="1"><a:solidFill><a:srgbClr val="1E232A"/></a:solidFill></a:rPr><a:t>Manual SOC Baseline</a:t></a:r></a:p></a:txBody><a:tcPr><a:solidFill><a:srgbClr val="F7FAFC"/></a:solidFill><a:lnB w="12700"><a:solidFill><a:srgbClr val="1E232A"/></a:solidFill></a:lnB></a:tcPr></a:tc><a:tc><a:txBody><a:bodyPr/><a:lstStyle/><a:p><a:pPr algn="l"/><a:r><a:rPr lang="en-US" sz="1000" b="1"><a:solidFill><a:srgbClr val="1E232A"/></a:solidFill></a:rPr><a:t>Commercial SOAR</a:t></a:r></a:p></a:txBody><a:tcPr><a:solidFill><a:srgbClr val="F7FAFC"/></a:solidFill><a:lnB w="12700"><a:solidFill><a:srgbClr val="1E232A"/></a:solidFill></a:lnB></a:tcPr></a:tc><a:tc><a:txBody><a:bodyPr/><a:lstStyle/><a:p><a:pPr algn="l"/><a:r><a:rPr lang="en-US" sz="1000" b="1"><a:solidFill><a:srgbClr val="1E232A"/></a:solidFill></a:rPr><a:t>Our Framework</a:t></a:r></a:p></a:txBody><a:tcPr><a:solidFill><a:srgbClr val="F7FAFC"/></a:solidFill><a:lnB w="12700"><a:solidFill><a:srgbClr val="1E232A"/></a:solidFill></a:lnB></a:tcPr></a:tc><a:tc><a:txBody><a:bodyPr/><a:lstStyle/><a:p><a:pPr algn="l"/><a:r><a:rPr lang="en-US" sz="1000" b="1"><a:solidFill><a:srgbClr val="1E232A"/></a:solidFill></a:rPr><a:t>Improvement Margin</a:t></a:r></a:p></a:txBody><a:tcPr><a:solidFill><a:srgbClr val="F7FAFC"/></a:solidFill><a:lnB w="12700"><a:solidFill><a:srgbClr val="1E232A"/></a:solidFill></a:lnB></a:tcPr></a:tc></a:tr><a:tr h="400000"><a:tc><a:txBody><a:bodyPr/><a:lstStyle/><a:p><a:pPr algn="l"/><a:r><a:rPr lang="en-US" sz="950" b="1"><a:solidFill><a:srgbClr val="2D3748"/></a:solidFill></a:rPr><a:t>Alert Ingestion & Triage</a:t></a:r></a:p></a:txBody><a:tcPr><a:solidFill><a:srgbClr val="FFFFFF"/></a:solidFill><a:lnB w="6350"><a:solidFill><a:srgbClr val="CBD5E0"/></a:solidFill></a:lnB></a:tcPr></a:tc><a:tc><a:txBody><a:bodyPr/><a:lstStyle/><a:p><a:pPr algn="l"/><a:r><a:rPr lang="en-US" sz="950" b="0"><a:solidFill><a:srgbClr val="2D3748"/></a:solidFill></a:rPr><a:t>15 – 25 minutes</a:t></a:r></a:p></a:txBody><a:tcPr><a:solidFill><a:srgbClr val="FFFFFF"/></a:solidFill><a:lnB w="6350"><a:solidFill><a:srgbClr val="CBD5E0"/></a:solidFill></a:lnB></a:tcPr></a:tc><a:tc><a:txBody><a:bodyPr/><a:lstStyle/><a:p><a:pPr algn="l"/><a:r><a:rPr lang="en-US" sz="950" b="0"><a:solidFill><a:srgbClr val="2D3748"/></a:solidFill></a:rPr><a:t>4.20 seconds</a:t></a:r></a:p></a:txBody><a:tcPr><a:solidFill><a:srgbClr val="FFFFFF"/></a:solidFill><a:lnB w="6350"><a:solidFill><a:srgbClr val="CBD5E0"/></a:solidFill></a:lnB></a:tcPr></a:tc><a:tc><a:txBody><a:bodyPr/><a:lstStyle/><a:p><a:pPr algn="l"/><a:r><a:rPr lang="en-US" sz="950" b="0"><a:solidFill><a:srgbClr val="2D3748"/></a:solidFill></a:rPr><a:t>0.82 seconds</a:t></a:r></a:p></a:txBody><a:tcPr><a:solidFill><a:srgbClr val="FFFFFF"/></a:solidFill><a:lnB w="6350"><a:solidFill><a:srgbClr val="CBD5E0"/></a:solidFill></a:lnB></a:tcPr></a:tc><a:tc><a:txBody><a:bodyPr/><a:lstStyle/><a:p><a:pPr algn="l"/><a:r><a:rPr lang="en-US" sz="950" b="0"><a:solidFill><a:srgbClr val="2D3748"/></a:solidFill></a:rPr><a:t>94.5% faster than SOAR</a:t></a:r></a:p></a:txBody><a:tcPr><a:solidFill><a:srgbClr val="FFFFFF"/></a:solidFill><a:lnB w="6350"><a:solidFill><a:srgbClr val="CBD5E0"/></a:solidFill></a:lnB></a:tcPr></a:tc></a:tr><a:tr h="400000"><a:tc><a:txBody><a:bodyPr/><a:lstStyle/><a:p><a:pPr algn="l"/><a:r><a:rPr lang="en-US" sz="950" b="1"><a:solidFill><a:srgbClr val="2D3748"/></a:solidFill></a:rPr><a:t>DFIR Artifact Capture (4x)</a:t></a:r></a:p></a:txBody><a:tcPr><a:solidFill><a:srgbClr val="FAFAFA"/></a:solidFill><a:lnB w="6350"><a:solidFill><a:srgbClr val="CBD5E0"/></a:solidFill></a:lnB></a:tcPr></a:tc><a:tc><a:txBody><a:bodyPr/><a:lstStyle/><a:p><a:pPr algn="l"/><a:r><a:rPr lang="en-US" sz="950" b="0"><a:solidFill><a:srgbClr val="2D3748"/></a:solidFill></a:rPr><a:t>20 – 35 minutes</a:t></a:r></a:p></a:txBody><a:tcPr><a:solidFill><a:srgbClr val="FAFAFA"/></a:solidFill><a:lnB w="6350"><a:solidFill><a:srgbClr val="CBD5E0"/></a:solidFill></a:lnB></a:tcPr></a:tc><a:tc><a:txBody><a:bodyPr/><a:lstStyle/><a:p><a:pPr algn="l"/><a:r><a:rPr lang="en-US" sz="950" b="0"><a:solidFill><a:srgbClr val="2D3748"/></a:solidFill></a:rPr><a:t>45 – 60 seconds</a:t></a:r></a:p></a:txBody><a:tcPr><a:solidFill><a:srgbClr val="FAFAFA"/></a:solidFill><a:lnB w="6350"><a:solidFill><a:srgbClr val="CBD5E0"/></a:solidFill></a:lnB></a:tcPr></a:tc><a:tc><a:txBody><a:bodyPr/><a:lstStyle/><a:p><a:pPr algn="l"/><a:r><a:rPr lang="en-US" sz="950" b="0"><a:solidFill><a:srgbClr val="2D3748"/></a:solidFill></a:rPr><a:t>1.45 seconds</a:t></a:r></a:p></a:txBody><a:tcPr><a:solidFill><a:srgbClr val="FAFAFA"/></a:solidFill><a:lnB w="6350"><a:solidFill><a:srgbClr val="CBD5E0"/></a:solidFill></a:lnB></a:tcPr></a:tc><a:tc><a:txBody><a:bodyPr/><a:lstStyle/><a:p><a:pPr algn="l"/><a:r><a:rPr lang="en-US" sz="950" b="0"><a:solidFill><a:srgbClr val="2D3748"/></a:solidFill></a:rPr><a:t>96.7% reduction in MTTA</a:t></a:r></a:p></a:txBody><a:tcPr><a:solidFill><a:srgbClr val="FAFAFA"/></a:solidFill><a:lnB w="6350"><a:solidFill><a:srgbClr val="CBD5E0"/></a:solidFill></a:lnB></a:tcPr></a:tc></a:tr><a:tr h="400000"><a:tc><a:txBody><a:bodyPr/><a:lstStyle/><a:p><a:pPr algn="l"/><a:r><a:rPr lang="en-US" sz="950" b="1"><a:solidFill><a:srgbClr val="2D3748"/></a:solidFill></a:rPr><a:t>Cryptographic Hash Custody</a:t></a:r></a:p></a:txBody><a:tcPr><a:solidFill><a:srgbClr val="FFFFFF"/></a:solidFill><a:lnB w="6350"><a:solidFill><a:srgbClr val="CBD5E0"/></a:solidFill></a:lnB></a:tcPr></a:tc><a:tc><a:txBody><a:bodyPr/><a:lstStyle/><a:p><a:pPr algn="l"/><a:r><a:rPr lang="en-US" sz="950" b="0"><a:solidFill><a:srgbClr val="2D3748"/></a:solidFill></a:rPr><a:t>Manual / Post-incident</a:t></a:r></a:p></a:txBody><a:tcPr><a:solidFill><a:srgbClr val="FFFFFF"/></a:solidFill><a:lnB w="6350"><a:solidFill><a:srgbClr val="CBD5E0"/></a:solidFill></a:lnB></a:tcPr></a:tc><a:tc><a:txBody><a:bodyPr/><a:lstStyle/><a:p><a:pPr algn="l"/><a:r><a:rPr lang="en-US" sz="950" b="0"><a:solidFill><a:srgbClr val="2D3748"/></a:solidFill></a:rPr><a:t>Cloud bucket hash</a:t></a:r></a:p></a:txBody><a:tcPr><a:solidFill><a:srgbClr val="FFFFFF"/></a:solidFill><a:lnB w="6350"><a:solidFill><a:srgbClr val="CBD5E0"/></a:solidFill></a:lnB></a:tcPr></a:tc><a:tc><a:txBody><a:bodyPr/><a:lstStyle/><a:p><a:pPr algn="l"/><a:r><a:rPr lang="en-US" sz="950" b="0"><a:solidFill><a:srgbClr val="2D3748"/></a:solidFill></a:rPr><a:t>Synchronous SHA-256</a:t></a:r></a:p></a:txBody><a:tcPr><a:solidFill><a:srgbClr val="FFFFFF"/></a:solidFill><a:lnB w="6350"><a:solidFill><a:srgbClr val="CBD5E0"/></a:solidFill></a:lnB></a:tcPr></a:tc><a:tc><a:txBody><a:bodyPr/><a:lstStyle/><a:p><a:pPr algn="l"/><a:r><a:rPr lang="en-US" sz="950" b="0"><a:solidFill><a:srgbClr val="2D3748"/></a:solidFill></a:rPr><a:t>Deterministic Chain</a:t></a:r></a:p></a:txBody><a:tcPr><a:solidFill><a:srgbClr val="FFFFFF"/></a:solidFill><a:lnB w="6350"><a:solidFill><a:srgbClr val="CBD5E0"/></a:solidFill></a:lnB></a:tcPr></a:tc></a:tr><a:tr h="400000"><a:tc><a:txBody><a:bodyPr/><a:lstStyle/><a:p><a:pPr algn="l"/><a:r><a:rPr lang="en-US" sz="950" b="1"><a:solidFill><a:srgbClr val="2D3748"/></a:solidFill></a:rPr><a:t>Forensic PDF Report Render</a:t></a:r></a:p></a:txBody><a:tcPr><a:solidFill><a:srgbClr val="FAFAFA"/></a:solidFill><a:lnB w="6350"><a:solidFill><a:srgbClr val="CBD5E0"/></a:solidFill></a:lnB></a:tcPr></a:tc><a:tc><a:txBody><a:bodyPr/><a:lstStyle/><a:p><a:pPr algn="l"/><a:r><a:rPr lang="en-US" sz="950" b="0"><a:solidFill><a:srgbClr val="2D3748"/></a:solidFill></a:rPr><a:t>30 – 45 minutes</a:t></a:r></a:p></a:txBody><a:tcPr><a:solidFill><a:srgbClr val="FAFAFA"/></a:solidFill><a:lnB w="6350"><a:solidFill><a:srgbClr val="CBD5E0"/></a:solidFill></a:lnB></a:tcPr></a:tc><a:tc><a:txBody><a:bodyPr/><a:lstStyle/><a:p><a:pPr algn="l"/><a:r><a:rPr lang="en-US" sz="950" b="0"><a:solidFill><a:srgbClr val="2D3748"/></a:solidFill></a:rPr><a:t>15 – 25 seconds</a:t></a:r></a:p></a:txBody><a:tcPr><a:solidFill><a:srgbClr val="FAFAFA"/></a:solidFill><a:lnB w="6350"><a:solidFill><a:srgbClr val="CBD5E0"/></a:solidFill></a:lnB></a:tcPr></a:tc><a:tc><a:txBody><a:bodyPr/><a:lstStyle/><a:p><a:pPr algn="l"/><a:r><a:rPr lang="en-US" sz="950" b="0"><a:solidFill><a:srgbClr val="2D3748"/></a:solidFill></a:rPr><a:t>1.10 seconds</a:t></a:r></a:p></a:txBody><a:tcPr><a:solidFill><a:srgbClr val="FAFAFA"/></a:solidFill><a:lnB w="6350"><a:solidFill><a:srgbClr val="CBD5E0"/></a:solidFill></a:lnB></a:tcPr></a:tc><a:tc><a:txBody><a:bodyPr/><a:lstStyle/><a:p><a:pPr algn="l"/><a:r><a:rPr lang="en-US" sz="950" b="0"><a:solidFill><a:srgbClr val="2D3748"/></a:solidFill></a:rPr><a:t>Instant Audit Readiness</a:t></a:r></a:p></a:txBody><a:tcPr><a:solidFill><a:srgbClr val="FAFAFA"/></a:solidFill><a:lnB w="6350"><a:solidFill><a:srgbClr val="CBD5E0"/></a:solidFill></a:lnB></a:tcPr></a:tc></a:tr><a:tr h="400000"><a:tc><a:txBody><a:bodyPr/><a:lstStyle/><a:p><a:pPr algn="l"/><a:r><a:rPr lang="en-US" sz="950" b="1"><a:solidFill><a:srgbClr val="2D3748"/></a:solidFill></a:rPr><a:t>Total Incident Handling Time</a:t></a:r></a:p></a:txBody><a:tcPr><a:solidFill><a:srgbClr val="F7FAFC"/></a:solidFill><a:lnB w="6350"><a:solidFill><a:srgbClr val="CBD5E0"/></a:solidFill></a:lnB></a:tcPr></a:tc><a:tc><a:txBody><a:bodyPr/><a:lstStyle/><a:p><a:pPr algn="l"/><a:r><a:rPr lang="en-US" sz="950" b="1"><a:solidFill><a:srgbClr val="2D3748"/></a:solidFill></a:rPr><a:t>~65 minutes</a:t></a:r></a:p></a:txBody><a:tcPr><a:solidFill><a:srgbClr val="F7FAFC"/></a:solidFill><a:lnB w="6350"><a:solidFill><a:srgbClr val="CBD5E0"/></a:solidFill></a:lnB></a:tcPr></a:tc><a:tc><a:txBody><a:bodyPr/><a:lstStyle/><a:p><a:pPr algn="l"/><a:r><a:rPr lang="en-US" sz="950" b="1"><a:solidFill><a:srgbClr val="2D3748"/></a:solidFill></a:rPr><a:t>~2.5 minutes</a:t></a:r></a:p></a:txBody><a:tcPr><a:solidFill><a:srgbClr val="F7FAFC"/></a:solidFill><a:lnB w="6350"><a:solidFill><a:srgbClr val="CBD5E0"/></a:solidFill></a:lnB></a:tcPr></a:tc><a:tc><a:txBody><a:bodyPr/><a:lstStyle/><a:p><a:pPr algn="l"/><a:r><a:rPr lang="en-US" sz="950" b="1"><a:solidFill><a:srgbClr val="2D3748"/></a:solidFill></a:rPr><a:t>< 3.5 seconds</a:t></a:r></a:p></a:txBody><a:tcPr><a:solidFill><a:srgbClr val="F7FAFC"/></a:solidFill><a:lnB w="6350"><a:solidFill><a:srgbClr val="CBD5E0"/></a:solidFill></a:lnB></a:tcPr></a:tc><a:tc><a:txBody><a:bodyPr/><a:lstStyle/><a:p><a:pPr algn="l"/><a:r><a:rPr lang="en-US" sz="950" b="1"><a:solidFill><a:srgbClr val="2D3748"/></a:solidFill></a:rPr><a:t>> 95% Total Time Saved</a:t></a:r></a:p></a:txBody><a:tcPr><a:solidFill><a:srgbClr val="F7FAFC"/></a:solidFill><a:lnB w="6350"><a:solidFill><a:srgbClr val="CBD5E0"/></a:solidFill></a:lnB></a:tcPr></a:tc></a:tr></a:tbl></a:graphicData></a:graphic></p:graphicFrame><p:pic><p:nvPicPr><p:cNvPr id="91" name="Img91"/><p:cNvPicPr><a:picLocks noChangeAspect="1"/></p:cNvPicPr><p:nvPr/></p:nvPicPr><p:blipFill><a:blip r:embed="rIdResp"/><a:stretch><a:fillRect/></a:stretch></p:blipFill><p:spPr><a:xfrm><a:off x="800000" y="4350000"/><a:ext cx="6000000" cy="1950000"/></a:xfrm><a:prstGeom prst="rect"><a:avLst/></a:prstGeom><a:ln w="12700"><a:solidFill><a:srgbClr val="D2D6DC"/></a:solidFill></a:ln></p:spPr></p:pic><p:sp><p:nvSpPr><p:cNvPr id="92" name="T92"/><p:cNvSpPr txBox="1"/><p:nvPr/></p:nvSpPr><p:spPr><a:xfrm><a:off x="7000000" y="4450000"/><a:ext cx="4400000" cy="1800000"/></a:xfrm><a:prstGeom prst="rect"><a:avLst/></a:prstGeom><a:noFill/></p:spPr><p:txBody><a:bodyPr wrap="square" l="0" r="0" t="0" b="0"/><a:lstStyle/><a:p><a:pPr algn="l"<a:spcAft><a:spcPts val="400"/></a:spcAft>></a:pPr><a:r><a:rPr lang="en-US" sz="1100" b="1" dirty="0"><a:solidFill><a:srgbClr val="1E232A"/></a:solidFill></a:rPr><a:t>Empirical Validation:</a:t></a:r></a:p><a:p><a:pPr algn="l"></a:pPr><a:r><a:rPr lang="en-US" sz="1000" b="0" dirty="0"><a:solidFill><a:srgbClr val="4A5568"/></a:solidFill></a:rPr><a:t>Live implementation capture (above) showing atomic execution of response playbooks and real-time database persistence, verifying &lt; 3.5s complete triage.</a:t></a:r></a:p></p:txBody></p:sp></p:spTree></p:cSld><p:clrMapOvr><a:masterClrMapping/></p:clrMapOvr></p:sld>
</file>

<file path=ppt/slides/slide9.xml><?xml version="1.0" encoding="UTF-8" standalone="yes"?><p:sld xmlns:a="http://schemas.openxmlformats.org/drawingml/2006/main" xmlns:r="http://schemas.openxmlformats.org/officeDocument/2006/relationships" xmlns:p="http://schemas.openxmlformats.org/presentationml/2006/main"><p:cSld><p:spTree><p:nvGrpSpPr><p:cNvPr id="1" name=""/><p:cNvGrpSpPr/><p:nvPr/></p:nvGrpSpPr><p:grpSpPr/><p:sp><p:nvSpPr><p:cNvPr id="10" name="T10"/><p:cNvSpPr txBox="1"/><p:nvPr/></p:nvSpPr><p:spPr><a:xfrm><a:off x="800000" y="450000"/><a:ext cx="7000000" cy="250000"/></a:xfrm><a:prstGeom prst="rect"><a:avLst/></a:prstGeom><a:noFill/></p:spPr><p:txBody><a:bodyPr wrap="square" l="0" r="0" t="0" b="0"/><a:lstStyle/><a:p><a:pPr algn="l"></a:pPr><a:r><a:rPr lang="en-US" sz="950" b="1" dirty="0"><a:solidFill><a:srgbClr val="4A5568"/></a:solidFill></a:rPr><a:t>LIMITATIONS &amp; DISCUSSION</a:t></a:r></a:p></p:txBody></p:sp><p:sp><p:nvSpPr><p:cNvPr id="11" name="T11"/><p:cNvSpPr txBox="1"/><p:nvPr/></p:nvSpPr><p:spPr><a:xfrm><a:off x="10200000" y="450000"/><a:ext cx="1200000" cy="250000"/></a:xfrm><a:prstGeom prst="rect"><a:avLst/></a:prstGeom><a:noFill/></p:spPr><p:txBody><a:bodyPr wrap="square" l="0" r="0" t="0" b="0"/><a:lstStyle/><a:p><a:pPr algn="l"></a:pPr><a:r><a:rPr lang="en-US" sz="950" b="1" dirty="0"><a:solidFill><a:srgbClr val="718096"/></a:solidFill></a:rPr><a:t>09 / 11</a:t></a:r></a:p></p:txBody></p:sp><p:sp><p:nvSpPr><p:cNvPr id="12" name="T12"/><p:cNvSpPr txBox="1"/><p:nvPr/></p:nvSpPr><p:spPr><a:xfrm><a:off x="800000" y="720000"/><a:ext cx="10600000" cy="450000"/></a:xfrm><a:prstGeom prst="rect"><a:avLst/></a:prstGeom><a:noFill/></p:spPr><p:txBody><a:bodyPr wrap="square" l="0" r="0" t="0" b="0"/><a:lstStyle/><a:p><a:pPr algn="l"></a:pPr><a:r><a:rPr lang="en-US" sz="1900" b="1" dirty="0"><a:solidFill><a:srgbClr val="1E232A"/></a:solidFill></a:rPr><a:t>Technical Constraints &amp; Observability Considerations</a:t></a:r></a:p></p:txBody></p:sp><p:sp><p:nvSpPr><p:cNvPr id="13" name="R13"/><p:cNvSpPr/><p:nvPr/></p:nvSpPr><p:spPr><a:xfrm><a:off x="800000" y="1220000"/><a:ext cx="10600000" cy="12700"/></a:xfrm><a:prstGeom prst="rect"><a:avLst/></a:prstGeom><a:solidFill><a:srgbClr val="CBD5E0"/></a:solidFill><a:ln><a:noFill/></a:ln></p:spPr></p:sp><p:sp><p:nvSpPr><p:cNvPr id="100" name="R100"/><p:cNvSpPr/><p:nvPr/></p:nvSpPr><p:spPr><a:xfrm><a:off x="800000" y="1450000"/><a:ext cx="10600000" cy="4800000"/></a:xfrm><a:prstGeom prst="rect"><a:avLst/></a:prstGeom><a:solidFill><a:srgbClr val="FFFFFF"/></a:solidFill><a:ln w="9525"><a:solidFill><a:srgbClr val="E2E8F0"/></a:solidFill></a:ln></p:spPr></p:sp><p:sp><p:nvSpPr><p:cNvPr id="101" name="T101"/><p:cNvSpPr txBox="1"/><p:nvPr/></p:nvSpPr><p:spPr><a:xfrm><a:off x="1050000" y="1750000"/><a:ext cx="10100000" cy="4400000"/></a:xfrm><a:prstGeom prst="rect"><a:avLst/></a:prstGeom><a:noFill/></p:spPr><p:txBody><a:bodyPr wrap="square" l="0" r="0" t="0" b="0"/><a:lstStyle/><a:p><a:pPr algn="l"<a:spcAft><a:spcPts val="400"/></a:spcAft>></a:pPr><a:r><a:rPr lang="en-US" sz="1250" b="1" dirty="0"><a:solidFill><a:srgbClr val="1E232A"/></a:solidFill></a:rPr><a:t>1. Operating System Privilege Boundaries</a:t></a:r></a:p><a:p><a:pPr algn="l"<a:spcAft><a:spcPts val="1600"/></a:spcAft>></a:pPr><a:r><a:rPr lang="en-US" sz="1050" b="0" dirty="0"><a:solidFill><a:srgbClr val="2D3748"/></a:solidFill></a:rPr><a:t>Querying deep administrative log channels (e.g. raw security event queries via wevtutil) requires elevated user tokens. When executed under standard service credentials, the system adheres to honest observability by recording UNAVAILABLE rather than fabricating synthetic telemetry.</a:t></a:r></a:p><a:p><a:pPr algn="l"<a:spcAft><a:spcPts val="400"/></a:spcAft>></a:pPr><a:r><a:rPr lang="en-US" sz="1250" b="1" dirty="0"><a:solidFill><a:srgbClr val="1E232A"/></a:solidFill></a:rPr><a:t>2. Host Execution Scope &amp; Multi-Tenancy</a:t></a:r></a:p><a:p><a:pPr algn="l"<a:spcAft><a:spcPts val="1600"/></a:spcAft>></a:pPr><a:r><a:rPr lang="en-US" sz="1050" b="0" dirty="0"><a:solidFill><a:srgbClr val="2D3748"/></a:solidFill></a:rPr><a:t>The current acquisition engine operates directly on the host running the Python runtime. Multi-subnet enterprise deployments will require remote transport tunneling (e.g. SSH or Wazuh Active Response push channels) to gather forensics from remote endpoints.</a:t></a:r></a:p><a:p><a:pPr algn="l"<a:spcAft><a:spcPts val="400"/></a:spcAft>></a:pPr><a:r><a:rPr lang="en-US" sz="1250" b="1" dirty="0"><a:solidFill><a:srgbClr val="1E232A"/></a:solidFill></a:rPr><a:t>3. Volatile Storage Scaling</a:t></a:r></a:p><a:p><a:pPr algn="l"></a:pPr><a:r><a:rPr lang="en-US" sz="1050" b="0" dirty="0"><a:solidFill><a:srgbClr val="2D3748"/></a:solidFill></a:rPr><a:t>Iterative attack bursts generate dozens of artifact text files. In enterprise production, a cold S3-compatible object store with immutable retention policies (WORM storage) is recommended to prevent local disk exhaustion.</a:t></a:r></a:p></p:txBody></p:sp></p:spTree></p:cSld><p:clrMapOvr><a:masterClrMapping/></p:clrMapOvr></p:sld>
</file>

<file path=ppt/slides/slide10.xml><?xml version="1.0" encoding="UTF-8" standalone="yes"?><p:sld xmlns:a="http://schemas.openxmlformats.org/drawingml/2006/main" xmlns:r="http://schemas.openxmlformats.org/officeDocument/2006/relationships" xmlns:p="http://schemas.openxmlformats.org/presentationml/2006/main"><p:cSld><p:spTree><p:nvGrpSpPr><p:cNvPr id="1" name=""/><p:cNvGrpSpPr/><p:nvPr/></p:nvGrpSpPr><p:grpSpPr/><p:sp><p:nvSpPr><p:cNvPr id="10" name="T10"/><p:cNvSpPr txBox="1"/><p:nvPr/></p:nvSpPr><p:spPr><a:xfrm><a:off x="800000" y="450000"/><a:ext cx="7000000" cy="250000"/></a:xfrm><a:prstGeom prst="rect"><a:avLst/></a:prstGeom><a:noFill/></p:spPr><p:txBody><a:bodyPr wrap="square" l="0" r="0" t="0" b="0"/><a:lstStyle/><a:p><a:pPr algn="l"></a:pPr><a:r><a:rPr lang="en-US" sz="950" b="1" dirty="0"><a:solidFill><a:srgbClr val="4A5568"/></a:solidFill></a:rPr><a:t>CONCLUSION &amp; FUTURE WORK</a:t></a:r></a:p></p:txBody></p:sp><p:sp><p:nvSpPr><p:cNvPr id="11" name="T11"/><p:cNvSpPr txBox="1"/><p:nvPr/></p:nvSpPr><p:spPr><a:xfrm><a:off x="10200000" y="450000"/><a:ext cx="1200000" cy="250000"/></a:xfrm><a:prstGeom prst="rect"><a:avLst/></a:prstGeom><a:noFill/></p:spPr><p:txBody><a:bodyPr wrap="square" l="0" r="0" t="0" b="0"/><a:lstStyle/><a:p><a:pPr algn="l"></a:pPr><a:r><a:rPr lang="en-US" sz="950" b="1" dirty="0"><a:solidFill><a:srgbClr val="718096"/></a:solidFill></a:rPr><a:t>10 / 11</a:t></a:r></a:p></p:txBody></p:sp><p:sp><p:nvSpPr><p:cNvPr id="12" name="T12"/><p:cNvSpPr txBox="1"/><p:nvPr/></p:nvSpPr><p:spPr><a:xfrm><a:off x="800000" y="720000"/><a:ext cx="10600000" cy="450000"/></a:xfrm><a:prstGeom prst="rect"><a:avLst/></a:prstGeom><a:noFill/></p:spPr><p:txBody><a:bodyPr wrap="square" l="0" r="0" t="0" b="0"/><a:lstStyle/><a:p><a:pPr algn="l"></a:pPr><a:r><a:rPr lang="en-US" sz="1900" b="1" dirty="0"><a:solidFill><a:srgbClr val="1E232A"/></a:solidFill></a:rPr><a:t>Contributions Summary &amp; Future Research Directions</a:t></a:r></a:p></p:txBody></p:sp><p:sp><p:nvSpPr><p:cNvPr id="13" name="R13"/><p:cNvSpPr/><p:nvPr/></p:nvSpPr><p:spPr><a:xfrm><a:off x="800000" y="1220000"/><a:ext cx="10600000" cy="12700"/></a:xfrm><a:prstGeom prst="rect"><a:avLst/></a:prstGeom><a:solidFill><a:srgbClr val="CBD5E0"/></a:solidFill><a:ln><a:noFill/></a:ln></p:spPr></p:sp><p:sp><p:nvSpPr><p:cNvPr id="110" name="R110"/><p:cNvSpPr/><p:nvPr/></p:nvSpPr><p:spPr><a:xfrm><a:off x="800000" y="1450000"/><a:ext cx="5100000" cy="4800000"/></a:xfrm><a:prstGeom prst="rect"><a:avLst/></a:prstGeom><a:solidFill><a:srgbClr val="F7FAFC"/></a:solidFill><a:ln w="9525"><a:solidFill><a:srgbClr val="E2E8F0"/></a:solidFill></a:ln></p:spPr></p:sp><p:sp><p:nvSpPr><p:cNvPr id="111" name="T111"/><p:cNvSpPr txBox="1"/><p:nvPr/></p:nvSpPr><p:spPr><a:xfrm><a:off x="1050000" y="1750000"/><a:ext cx="4600000" cy="4300000"/></a:xfrm><a:prstGeom prst="rect"><a:avLst/></a:prstGeom><a:noFill/></p:spPr><p:txBody><a:bodyPr wrap="square" l="0" r="0" t="0" b="0"/><a:lstStyle/><a:p><a:pPr algn="l"<a:spcAft><a:spcPts val="1000"/></a:spcAft>></a:pPr><a:r><a:rPr lang="en-US" sz="1300" b="1" dirty="0"><a:solidFill><a:srgbClr val="1E232A"/></a:solidFill></a:rPr><a:t>Summary of Key Contributions</a:t></a:r></a:p><a:p><a:pPr algn="l"<a:spcAft><a:spcPts val="1200"/></a:spcAft> marL="260000" indent="-260000"><a:buFont typeface="Arial"/><a:buChar char="—"/></a:pPr><a:r><a:rPr lang="en-US" sz="1050" b="0" dirty="0"><a:solidFill><a:srgbClr val="2D3748"/></a:solidFill></a:rPr><a:t>Automated SOC Pipeline: Successfully engineered an end-to-end framework integrating Wazuh SIEM detection with automated SOAR triage and DFIR.</a:t></a:r></a:p><a:p><a:pPr algn="l"<a:spcAft><a:spcPts val="1200"/></a:spcAft> marL="260000" indent="-260000"><a:buFont typeface="Arial"/><a:buChar char="—"/></a:pPr><a:r><a:rPr lang="en-US" sz="1050" b="0" dirty="0"><a:solidFill><a:srgbClr val="2D3748"/></a:solidFill></a:rPr><a:t>Drastic Latency Reduction: Cut manual incident triage from ~45 minutes to &lt; 3.5 seconds.</a:t></a:r></a:p><a:p><a:pPr algn="l"<a:spcAft><a:spcPts val="1200"/></a:spcAft> marL="260000" indent="-260000"><a:buFont typeface="Arial"/><a:buChar char="—"/></a:pPr><a:r><a:rPr lang="en-US" sz="1050" b="0" dirty="0"><a:solidFill><a:srgbClr val="2D3748"/></a:solidFill></a:rPr><a:t>NIST SP 800-86 Cryptographic Custody: Implemented SHA-256 digital custody verification ensuring court-admissible artifact integrity.</a:t></a:r></a:p><a:p><a:pPr algn="l" marL="260000" indent="-260000"><a:buFont typeface="Arial"/><a:buChar char="—"/></a:pPr><a:r><a:rPr lang="en-US" sz="1050" b="0" dirty="0"><a:solidFill><a:srgbClr val="2D3748"/></a:solidFill></a:rPr><a:t>Full-Lifecycle Reporting: Automated forensic PDF report generation using Python ReportLab.</a:t></a:r></a:p></p:txBody></p:sp><p:sp><p:nvSpPr><p:cNvPr id="112" name="R112"/><p:cNvSpPr/><p:nvPr/></p:nvSpPr><p:spPr><a:xfrm><a:off x="6300000" y="1450000"/><a:ext cx="5100000" cy="4800000"/></a:xfrm><a:prstGeom prst="rect"><a:avLst/></a:prstGeom><a:solidFill><a:srgbClr val="F7FAFC"/></a:solidFill><a:ln w="9525"><a:solidFill><a:srgbClr val="E2E8F0"/></a:solidFill></a:ln></p:spPr></p:sp><p:sp><p:nvSpPr><p:cNvPr id="113" name="T113"/><p:cNvSpPr txBox="1"/><p:nvPr/></p:nvSpPr><p:spPr><a:xfrm><a:off x="6550000" y="1750000"/><a:ext cx="4600000" cy="4300000"/></a:xfrm><a:prstGeom prst="rect"><a:avLst/></a:prstGeom><a:noFill/></p:spPr><p:txBody><a:bodyPr wrap="square" l="0" r="0" t="0" b="0"/><a:lstStyle/><a:p><a:pPr algn="l"<a:spcAft><a:spcPts val="1000"/></a:spcAft>></a:pPr><a:r><a:rPr lang="en-US" sz="1300" b="1" dirty="0"><a:solidFill><a:srgbClr val="1E232A"/></a:solidFill></a:rPr><a:t>Future Engineering Roadmap</a:t></a:r></a:p><a:p><a:pPr algn="l"<a:spcAft><a:spcPts val="1400"/></a:spcAft> marL="260000" indent="-260000"><a:buFont typeface="Arial"/><a:buChar char="—"/></a:pPr><a:r><a:rPr lang="en-US" sz="1050" b="0" dirty="0"><a:solidFill><a:srgbClr val="2D3748"/></a:solidFill></a:rPr><a:t>Linux eBPF Kernel Probes: Extend collector engine to capture syscall-level process memory and socket maps on Linux endpoints.</a:t></a:r></a:p><a:p><a:pPr algn="l"<a:spcAft><a:spcPts val="1400"/></a:spcAft> marL="260000" indent="-260000"><a:buFont typeface="Arial"/><a:buChar char="—"/></a:pPr><a:r><a:rPr lang="en-US" sz="1050" b="0" dirty="0"><a:solidFill><a:srgbClr val="2D3748"/></a:solidFill></a:rPr><a:t>Automated YARA Scanning: Embed automated YARA memory scans into the triage pipeline to identify injected DLLs in running processes.</a:t></a:r></a:p><a:p><a:pPr algn="l" marL="260000" indent="-260000"><a:buFont typeface="Arial"/><a:buChar char="—"/></a:pPr><a:r><a:rPr lang="en-US" sz="1050" b="0" dirty="0"><a:solidFill><a:srgbClr val="2D3748"/></a:solidFill></a:rPr><a:t>Distributed Firewall Automation: Interface with Wazuh Active Response firewall-drop scripts for fleet-wide automated source IP blocking.</a:t></a:r></a:p></p:txBody></p:sp></p:spTree></p:cSld><p:clrMapOvr><a:masterClrMapping/></p:clrMapOvr></p:sld>
</file>

<file path=ppt/slides/slide11.xml><?xml version="1.0" encoding="UTF-8" standalone="yes"?><p:sld xmlns:a="http://schemas.openxmlformats.org/drawingml/2006/main" xmlns:r="http://schemas.openxmlformats.org/officeDocument/2006/relationships" xmlns:p="http://schemas.openxmlformats.org/presentationml/2006/main"><p:cSld><p:spTree><p:nvGrpSpPr><p:cNvPr id="1" name=""/><p:cNvGrpSpPr/><p:nvPr/></p:nvGrpSpPr><p:grpSpPr/><p:sp><p:nvSpPr><p:cNvPr id="10" name="T10"/><p:cNvSpPr txBox="1"/><p:nvPr/></p:nvSpPr><p:spPr><a:xfrm><a:off x="800000" y="450000"/><a:ext cx="7000000" cy="250000"/></a:xfrm><a:prstGeom prst="rect"><a:avLst/></a:prstGeom><a:noFill/></p:spPr><p:txBody><a:bodyPr wrap="square" l="0" r="0" t="0" b="0"/><a:lstStyle/><a:p><a:pPr algn="l"></a:pPr><a:r><a:rPr lang="en-US" sz="950" b="1" dirty="0"><a:solidFill><a:srgbClr val="4A5568"/></a:solidFill></a:rPr><a:t>REFERENCES</a:t></a:r></a:p></p:txBody></p:sp><p:sp><p:nvSpPr><p:cNvPr id="11" name="T11"/><p:cNvSpPr txBox="1"/><p:nvPr/></p:nvSpPr><p:spPr><a:xfrm><a:off x="10200000" y="450000"/><a:ext cx="1200000" cy="250000"/></a:xfrm><a:prstGeom prst="rect"><a:avLst/></a:prstGeom><a:noFill/></p:spPr><p:txBody><a:bodyPr wrap="square" l="0" r="0" t="0" b="0"/><a:lstStyle/><a:p><a:pPr algn="l"></a:pPr><a:r><a:rPr lang="en-US" sz="950" b="1" dirty="0"><a:solidFill><a:srgbClr val="718096"/></a:solidFill></a:rPr><a:t>11 / 11</a:t></a:r></a:p></p:txBody></p:sp><p:sp><p:nvSpPr><p:cNvPr id="12" name="T12"/><p:cNvSpPr txBox="1"/><p:nvPr/></p:nvSpPr><p:spPr><a:xfrm><a:off x="800000" y="720000"/><a:ext cx="10600000" cy="450000"/></a:xfrm><a:prstGeom prst="rect"><a:avLst/></a:prstGeom><a:noFill/></p:spPr><p:txBody><a:bodyPr wrap="square" l="0" r="0" t="0" b="0"/><a:lstStyle/><a:p><a:pPr algn="l"></a:pPr><a:r><a:rPr lang="en-US" sz="1900" b="1" dirty="0"><a:solidFill><a:srgbClr val="1E232A"/></a:solidFill></a:rPr><a:t>Standards, Frameworks &amp; Academic Literature</a:t></a:r></a:p></p:txBody></p:sp><p:sp><p:nvSpPr><p:cNvPr id="13" name="R13"/><p:cNvSpPr/><p:nvPr/></p:nvSpPr><p:spPr><a:xfrm><a:off x="800000" y="1220000"/><a:ext cx="10600000" cy="12700"/></a:xfrm><a:prstGeom prst="rect"><a:avLst/></a:prstGeom><a:solidFill><a:srgbClr val="CBD5E0"/></a:solidFill><a:ln><a:noFill/></a:ln></p:spPr></p:sp><p:sp><p:nvSpPr><p:cNvPr id="120" name="R120"/><p:cNvSpPr/><p:nvPr/></p:nvSpPr><p:spPr><a:xfrm><a:off x="800000" y="1450000"/><a:ext cx="10600000" cy="4800000"/></a:xfrm><a:prstGeom prst="rect"><a:avLst/></a:prstGeom><a:solidFill><a:srgbClr val="FFFFFF"/></a:solidFill><a:ln w="9525"><a:solidFill><a:srgbClr val="E2E8F0"/></a:solidFill></a:ln></p:spPr></p:sp><p:sp><p:nvSpPr><p:cNvPr id="121" name="T121"/><p:cNvSpPr txBox="1"/><p:nvPr/></p:nvSpPr><p:spPr><a:xfrm><a:off x="1050000" y="1750000"/><a:ext cx="10100000" cy="4400000"/></a:xfrm><a:prstGeom prst="rect"><a:avLst/></a:prstGeom><a:noFill/></p:spPr><p:txBody><a:bodyPr wrap="square" l="0" r="0" t="0" b="0"/><a:lstStyle/><a:p><a:pPr algn="l"<a:spcAft><a:spcPts val="1000"/></a:spcAft> marL="260000" indent="-260000"><a:buFont typeface="Arial"/><a:buChar char="—"/></a:pPr><a:r><a:rPr lang="en-US" sz="1000" b="0" dirty="0"><a:solidFill><a:srgbClr val="2D3748"/></a:solidFill></a:rPr><a:t>NIST Special Publication 800-86: Guide to Integrating Forensic Techniques into Incident Response, National Institute of Standards and Technology (NIST), U.S. Department of Commerce.</a:t></a:r></a:p><a:p><a:pPr algn="l"<a:spcAft><a:spcPts val="1000"/></a:spcAft> marL="260000" indent="-260000"><a:buFont typeface="Arial"/><a:buChar char="—"/></a:pPr><a:r><a:rPr lang="en-US" sz="1000" b="0" dirty="0"><a:solidFill><a:srgbClr val="2D3748"/></a:solidFill></a:rPr><a:t>NIST Special Publication 800-61 Rev. 2: Computer Security Incident Handling Guide, National Institute of Standards and Technology.</a:t></a:r></a:p><a:p><a:pPr algn="l"<a:spcAft><a:spcPts val="1000"/></a:spcAft> marL="260000" indent="-260000"><a:buFont typeface="Arial"/><a:buChar char="—"/></a:pPr><a:r><a:rPr lang="en-US" sz="1000" b="0" dirty="0"><a:solidFill><a:srgbClr val="2D3748"/></a:solidFill></a:rPr><a:t>MITRE ATT&amp;CK Matrix: Technique T1110.001: Brute Force — Password Guessing, The MITRE Corporation.</a:t></a:r></a:p><a:p><a:pPr algn="l"<a:spcAft><a:spcPts val="1000"/></a:spcAft> marL="260000" indent="-260000"><a:buFont typeface="Arial"/><a:buChar char="—"/></a:pPr><a:r><a:rPr lang="en-US" sz="1000" b="0" dirty="0"><a:solidFill><a:srgbClr val="2D3748"/></a:solidFill></a:rPr><a:t>Wazuh Documentation (v4.x): Open Source Security Platform Architecture, Custom Decoders, and RESTful API Specification.</a:t></a:r></a:p><a:p><a:pPr algn="l"<a:spcAft><a:spcPts val="1000"/></a:spcAft> marL="260000" indent="-260000"><a:buFont typeface="Arial"/><a:buChar char="—"/></a:pPr><a:r><a:rPr lang="en-US" sz="1000" b="0" dirty="0"><a:solidFill><a:srgbClr val="2D3748"/></a:solidFill></a:rPr><a:t>Islam, C., Babar, M. A., &amp; Nepal, S. (2025): A Review of Security Orchestration, Automation, and Response (SOAR): Architectures and Challenges, IEEE Access, vol. 13.</a:t></a:r></a:p><a:p><a:pPr algn="l" marL="260000" indent="-260000"><a:buFont typeface="Arial"/><a:buChar char="—"/></a:pPr><a:r><a:rPr lang="en-US" sz="1000" b="0" dirty="0"><a:solidFill><a:srgbClr val="2D3748"/></a:solidFill></a:rPr><a:t>ISO/IEC 27037:2012: Information technology — Security techniques — Guidelines for identification, collection, acquisition and preservation of digital evidence.</a:t></a:r></a:p></p:txBody></p:sp></p:spTree></p:cSld><p:clrMapOvr><a:masterClrMapping/></p:clrMapOvr></p:sld>
</file>

<file path=ppt/theme/theme1.xml><?xml version="1.0" encoding="utf-8"?>
<a:theme xmlns:a="http://schemas.openxmlformats.org/drawingml/2006/main" name="MinimalistGrayscale">
  <a:themeElements>
    <a:clrScheme name="Monochrome">
      <a:dk1>
        <a:srgbClr val="1E232A"/>
      </a:dk1>
      <a:lt1>
        <a:srgbClr val="FFFFFF"/>
      </a:lt1>
      <a:dk2>
        <a:srgbClr val="4A5568"/>
      </a:dk2>
      <a:lt2>
        <a:srgbClr val="F7FAFC"/>
      </a:lt2>
      <a:accent1>
        <a:srgbClr val="2D3748"/>
      </a:accent1>
      <a:accent2>
        <a:srgbClr val="718096"/>
      </a:accent2>
      <a:accent3>
        <a:srgbClr val="A0AEC0"/>
      </a:accent3>
      <a:accent4>
        <a:srgbClr val="CBD5E0"/>
      </a:accent4>
      <a:accent5>
        <a:srgbClr val="E2E8F0"/>
      </a:accent5>
      <a:accent6>
        <a:srgbClr val="EDF2F7"/>
      </a:accent6>
      <a:hlink>
        <a:srgbClr val="2B6CB0"/>
      </a:hlink>
      <a:folHlink>
        <a:srgbClr val="4A5568"/>
      </a:folHlink>
    </a:clrScheme>
    <a:fontScheme name="EditorialSans">
      <a:majorFont>
        <a:latin typeface="Segoe UI Semibold"/>
        <a:ea typeface=""/>
        <a:cs typeface=""/>
      </a:majorFont>
      <a:minorFont>
        <a:latin typeface="Segoe UI"/>
        <a:ea typeface=""/>
        <a:cs typeface=""/>
      </a:minorFont>
    </a:fontScheme>
    <a:fmtScheme name="Office">
      <a:fillStyleLst>
        <a:solidFill>
          <a:schemeClr val="phClr"/>
        </a:solidFill>
      </a:fillStyleLst>
      <a:lnStyleLst>
        <a:ln w="9525">
          <a:solidFill>
            <a:schemeClr val="phClr"/>
          </a:solidFill>
        </a:ln>
      </a:lnStyleLst>
      <a:effectStyleLst>
        <a:effectStyle>
          <a:effectLst/>
        </a:effectStyle>
      </a:effectStyleLst>
      <a:bgFillStyleLst>
        <a:solidFill>
          <a:schemeClr val="phClr"/>
        </a:solidFill>
      </a:bgFillStyleLst>
    </a:fmtScheme>
  </a:themeElements>
</a:theme>
</file>